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71" r:id="rId3"/>
    <p:sldId id="270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rath Reddy Chagani" userId="1329c0a628bfa149" providerId="LiveId" clId="{1F21D2FA-3E02-43BE-96C7-8658C0CFC1C8}"/>
    <pc:docChg chg="custSel modSld">
      <pc:chgData name="Bharath Reddy Chagani" userId="1329c0a628bfa149" providerId="LiveId" clId="{1F21D2FA-3E02-43BE-96C7-8658C0CFC1C8}" dt="2026-10-10T10:50:42.848" v="51" actId="14100"/>
      <pc:docMkLst>
        <pc:docMk/>
      </pc:docMkLst>
      <pc:sldChg chg="modSp mod">
        <pc:chgData name="Bharath Reddy Chagani" userId="1329c0a628bfa149" providerId="LiveId" clId="{1F21D2FA-3E02-43BE-96C7-8658C0CFC1C8}" dt="2026-10-10T10:49:05.060" v="42" actId="1076"/>
        <pc:sldMkLst>
          <pc:docMk/>
          <pc:sldMk cId="0" sldId="256"/>
        </pc:sldMkLst>
        <pc:spChg chg="mod">
          <ac:chgData name="Bharath Reddy Chagani" userId="1329c0a628bfa149" providerId="LiveId" clId="{1F21D2FA-3E02-43BE-96C7-8658C0CFC1C8}" dt="2026-10-10T10:49:05.060" v="42" actId="1076"/>
          <ac:spMkLst>
            <pc:docMk/>
            <pc:sldMk cId="0" sldId="256"/>
            <ac:spMk id="7" creationId="{00000000-0000-0000-0000-000000000000}"/>
          </ac:spMkLst>
        </pc:spChg>
      </pc:sldChg>
      <pc:sldChg chg="addSp delSp modSp mod">
        <pc:chgData name="Bharath Reddy Chagani" userId="1329c0a628bfa149" providerId="LiveId" clId="{1F21D2FA-3E02-43BE-96C7-8658C0CFC1C8}" dt="2026-10-10T10:50:42.848" v="51" actId="14100"/>
        <pc:sldMkLst>
          <pc:docMk/>
          <pc:sldMk cId="0" sldId="270"/>
        </pc:sldMkLst>
        <pc:picChg chg="del">
          <ac:chgData name="Bharath Reddy Chagani" userId="1329c0a628bfa149" providerId="LiveId" clId="{1F21D2FA-3E02-43BE-96C7-8658C0CFC1C8}" dt="2026-10-10T10:50:06.484" v="43" actId="478"/>
          <ac:picMkLst>
            <pc:docMk/>
            <pc:sldMk cId="0" sldId="270"/>
            <ac:picMk id="3" creationId="{00000000-0000-0000-0000-000000000000}"/>
          </ac:picMkLst>
        </pc:picChg>
        <pc:picChg chg="add mod">
          <ac:chgData name="Bharath Reddy Chagani" userId="1329c0a628bfa149" providerId="LiveId" clId="{1F21D2FA-3E02-43BE-96C7-8658C0CFC1C8}" dt="2026-10-10T10:50:42.848" v="51" actId="14100"/>
          <ac:picMkLst>
            <pc:docMk/>
            <pc:sldMk cId="0" sldId="270"/>
            <ac:picMk id="5" creationId="{56507612-73AC-8867-A1DB-986F96365821}"/>
          </ac:picMkLst>
        </pc:picChg>
      </pc:sldChg>
      <pc:sldChg chg="addSp delSp modSp mod">
        <pc:chgData name="Bharath Reddy Chagani" userId="1329c0a628bfa149" providerId="LiveId" clId="{1F21D2FA-3E02-43BE-96C7-8658C0CFC1C8}" dt="2026-10-10T10:48:16.884" v="7" actId="14100"/>
        <pc:sldMkLst>
          <pc:docMk/>
          <pc:sldMk cId="0" sldId="271"/>
        </pc:sldMkLst>
        <pc:picChg chg="del">
          <ac:chgData name="Bharath Reddy Chagani" userId="1329c0a628bfa149" providerId="LiveId" clId="{1F21D2FA-3E02-43BE-96C7-8658C0CFC1C8}" dt="2026-10-10T10:47:50.233" v="1" actId="478"/>
          <ac:picMkLst>
            <pc:docMk/>
            <pc:sldMk cId="0" sldId="271"/>
            <ac:picMk id="3" creationId="{00000000-0000-0000-0000-000000000000}"/>
          </ac:picMkLst>
        </pc:picChg>
        <pc:picChg chg="add mod">
          <ac:chgData name="Bharath Reddy Chagani" userId="1329c0a628bfa149" providerId="LiveId" clId="{1F21D2FA-3E02-43BE-96C7-8658C0CFC1C8}" dt="2026-10-10T10:48:16.884" v="7" actId="14100"/>
          <ac:picMkLst>
            <pc:docMk/>
            <pc:sldMk cId="0" sldId="271"/>
            <ac:picMk id="4" creationId="{5F38BDA7-8472-01DD-B6CF-4031B4B2FA86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rgbClr val="002060"/>
                </a:solidFill>
                <a:latin typeface="Times New Roman" panose="02020603050405020304"/>
                <a:ea typeface="+mn-ea"/>
                <a:cs typeface="+mn-cs"/>
              </a:defRPr>
            </a:pPr>
            <a:r>
              <a:rPr sz="1800" b="0" i="0" u="none" strike="noStrike">
                <a:solidFill>
                  <a:srgbClr val="002060"/>
                </a:solidFill>
                <a:latin typeface="Times New Roman" panose="02020603050405020304"/>
              </a:rPr>
              <a:t>Steps to reach student #750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Steps</c:v>
                </c:pt>
              </c:strCache>
            </c:strRef>
          </c:tx>
          <c:spPr>
            <a:solidFill>
              <a:srgbClr val="4E9A2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454-406C-8845-01E618D70C6C}"/>
              </c:ext>
            </c:extLst>
          </c:dPt>
          <c:dPt>
            <c:idx val="1"/>
            <c:invertIfNegative val="0"/>
            <c:bubble3D val="0"/>
            <c:spPr>
              <a:solidFill>
                <a:srgbClr val="F265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454-406C-8845-01E618D70C6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600" b="1" i="0" u="none" strike="noStrike" kern="1200" baseline="0">
                    <a:solidFill>
                      <a:srgbClr val="111827"/>
                    </a:solidFill>
                    <a:latin typeface="Times New Roman" panose="020206030504050203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Array</c:v>
                </c:pt>
                <c:pt idx="1">
                  <c:v>Linked list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750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454-406C-8845-01E618D70C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500" b="0" i="0" u="none" strike="noStrike" kern="1200" baseline="0">
                <a:solidFill>
                  <a:srgbClr val="111827"/>
                </a:solidFill>
                <a:latin typeface="Times New Roman" panose="02020603050405020304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0"/>
        </c:scaling>
        <c:delete val="0"/>
        <c:axPos val="l"/>
        <c:majorGridlines>
          <c:spPr>
            <a:ln w="9525" cap="flat" cmpd="sng" algn="ctr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6B7280"/>
                </a:solidFill>
                <a:latin typeface="Times New Roman" panose="02020603050405020304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29826ec4-199a-40b7-b801-63aa80ff8446}"/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600" b="0" i="0" u="none" strike="noStrike" kern="1200" baseline="0">
                <a:solidFill>
                  <a:srgbClr val="002060"/>
                </a:solidFill>
                <a:latin typeface="Times New Roman" panose="02020603050405020304"/>
                <a:ea typeface="+mn-ea"/>
                <a:cs typeface="+mn-cs"/>
              </a:defRPr>
            </a:pPr>
            <a:r>
              <a:rPr sz="1600" b="0" i="0" u="none" strike="noStrike">
                <a:solidFill>
                  <a:srgbClr val="002060"/>
                </a:solidFill>
                <a:latin typeface="Times New Roman" panose="02020603050405020304"/>
              </a:rPr>
              <a:t>Comparisons per search (log scale)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Comparisons</c:v>
                </c:pt>
              </c:strCache>
            </c:strRef>
          </c:tx>
          <c:spPr>
            <a:solidFill>
              <a:srgbClr val="F2652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4F1-4C3A-B231-9209174B65C1}"/>
              </c:ext>
            </c:extLst>
          </c:dPt>
          <c:dPt>
            <c:idx val="1"/>
            <c:invertIfNegative val="0"/>
            <c:bubble3D val="0"/>
            <c:spPr>
              <a:solidFill>
                <a:srgbClr val="1F5F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4F1-4C3A-B231-9209174B65C1}"/>
              </c:ext>
            </c:extLst>
          </c:dPt>
          <c:dPt>
            <c:idx val="2"/>
            <c:invertIfNegative val="0"/>
            <c:bubble3D val="0"/>
            <c:spPr>
              <a:solidFill>
                <a:srgbClr val="1F5F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4F1-4C3A-B231-9209174B65C1}"/>
              </c:ext>
            </c:extLst>
          </c:dPt>
          <c:dPt>
            <c:idx val="3"/>
            <c:invertIfNegative val="0"/>
            <c:bubble3D val="0"/>
            <c:spPr>
              <a:solidFill>
                <a:srgbClr val="4E9A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4F1-4C3A-B231-9209174B65C1}"/>
              </c:ext>
            </c:extLst>
          </c:dPt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400" b="1" i="0" u="none" strike="noStrike" kern="1200" baseline="0">
                    <a:solidFill>
                      <a:srgbClr val="111827"/>
                    </a:solidFill>
                    <a:latin typeface="Times New Roman" panose="02020603050405020304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Linear</c:v>
                </c:pt>
                <c:pt idx="1">
                  <c:v>Binary</c:v>
                </c:pt>
                <c:pt idx="2">
                  <c:v>BST</c:v>
                </c:pt>
                <c:pt idx="3">
                  <c:v>Hash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50000</c:v>
                </c:pt>
                <c:pt idx="1">
                  <c:v>16</c:v>
                </c:pt>
                <c:pt idx="2">
                  <c:v>16</c:v>
                </c:pt>
                <c:pt idx="3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4F1-4C3A-B231-9209174B65C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rgbClr val="111827"/>
                </a:solidFill>
                <a:latin typeface="Times New Roman" panose="02020603050405020304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logBase val="10"/>
          <c:orientation val="minMax"/>
          <c:max val="100000"/>
          <c:min val="1"/>
        </c:scaling>
        <c:delete val="0"/>
        <c:axPos val="l"/>
        <c:majorGridlines>
          <c:spPr>
            <a:ln w="9525" cap="flat" cmpd="sng" algn="ctr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B7280"/>
                </a:solidFill>
                <a:latin typeface="Times New Roman" panose="02020603050405020304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8bcbeb9b-161a-4e52-bb28-98b8f95bd710}"/>
      </c:ext>
    </c:extLst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course. Say that the presentation answers four questions, each with a different data structure: Array, Graph, Stack and Hash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problem: 1000 students' marks. A single int holds one mark, so we need a non-primitive structure to hold many marks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table. Array access is O(1) because the address is computed from the index. A linked list must walk node by node, so student #750 takes 750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short code. Direct indexing gives O(1) access and update; one loop gives the average in O(n). The only weakness, inserting in the middle, is rare for 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Cities are vertices, roads are weighted edges. Roads form cycles and many-to-many links, which arrays, lists and trees cannot represent.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 maps are sparse, so an adjacency list uses O(V+E) memory instead of O(V squared). Dijkstra with a min-heap finds shortest paths in O((V+E) log V).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distances from A: C=2, B=3 (via C), D=8 (via B), E=10 (via D). The direct-looking C to E road would cost 12, so the longer-looking detour is actually shorter.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ADT defines behaviour, not implementation. The stack ADT gives push, pop, peek and isEmpty, all O(1). The latest visited page sits on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Visit A, B, C: three pushes. First Back pops C and shows B. Second Back pops B and shows A. Each step touches only the top, so it is O(1). Popped pages go to a second stack for the Forward button.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stack with an array that inserts at the front and with a queue. The stack gives O(1) visit and back, and its LIFO order matches the Back button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ISBN is a unique key and we only need exact-match lookup. Compare four candidates; the hash table jumps straight to the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search may check all 50,000 records. Binary search and a balanced BST need about log2(50,000) which is 16 comparisons. A hash table needs about 1 to 2. The hash worst case O(n) needs every key to collide.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ISBN goes through the hash function to a bucket index; collisions are handled by chaining. With m=65,537 and 50,000 records the load factor is about 0.76, so a search takes about 1.4 comparisons. Then summarise all four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WAV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97280" y="2103120"/>
            <a:ext cx="9966960" cy="160020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ctr">
              <a:buNone/>
              <a:defRPr lang="en-US" sz="40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defRPr>
            </a:lvl1pPr>
          </a:lstStyle>
          <a:p>
            <a:pPr marL="0" indent="0" algn="ctr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8600"/>
            <a:ext cx="658368" cy="781812"/>
          </a:xfrm>
          <a:prstGeom prst="rect">
            <a:avLst/>
          </a:prstGeom>
        </p:spPr>
      </p:pic>
      <p:pic>
        <p:nvPicPr>
          <p:cNvPr id="3" name="Image 1" descr="/home/claude/assets/logo_sim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9688" y="228600"/>
            <a:ext cx="877824" cy="7772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CSA03 · Data Structures · Technical Presentation</a:t>
            </a:r>
            <a:endParaRPr lang="en-US" sz="1100" dirty="0"/>
          </a:p>
        </p:txBody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1371600" y="201168"/>
            <a:ext cx="9445752" cy="658368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ctr">
              <a:buNone/>
              <a:defRPr lang="en-US" sz="3200" b="1" dirty="0">
                <a:solidFill>
                  <a:srgbClr val="00206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defRPr>
            </a:lvl1pPr>
          </a:lstStyle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764DE79-268F-4C1A-8933-263129D2AF90}" type="datetimeFigureOut">
              <a:rPr lang="en-US" dirty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92808" y="411480"/>
            <a:ext cx="8412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C9D8EE"/>
            </a:solidFill>
            <a:prstDash val="solid"/>
          </a:ln>
        </p:spPr>
      </p:sp>
      <p:pic>
        <p:nvPicPr>
          <p:cNvPr id="3" name="Image 0" descr="/home/claude/assets/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128" y="530352"/>
            <a:ext cx="7863840" cy="1206094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97280" y="2240280"/>
            <a:ext cx="9966960" cy="160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>
                <a:solidFill>
                  <a:srgbClr val="002060"/>
                </a:solidFill>
                <a:sym typeface="+mn-ea"/>
              </a:rPr>
              <a:t>CSA0308- DATA STRUCTURES</a:t>
            </a:r>
            <a:br>
              <a:rPr>
                <a:solidFill>
                  <a:srgbClr val="002060"/>
                </a:solidFill>
                <a:sym typeface="+mn-ea"/>
              </a:rPr>
            </a:br>
            <a:r>
              <a:rPr>
                <a:solidFill>
                  <a:srgbClr val="002060"/>
                </a:solidFill>
                <a:sym typeface="+mn-ea"/>
              </a:rPr>
              <a:t>Assessment Tool 2 - Technical Presentation</a:t>
            </a:r>
            <a:endParaRPr lang="en-US" sz="4000" dirty="0">
              <a:solidFill>
                <a:srgbClr val="002060"/>
              </a:solidFill>
              <a:sym typeface="+mn-ea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1097280" y="3794760"/>
            <a:ext cx="996696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744345" y="4857750"/>
            <a:ext cx="2153285" cy="14922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chemeClr val="accent5"/>
                </a:solidFill>
              </a:rPr>
              <a:t>Guided by :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chemeClr val="accent5"/>
                </a:solidFill>
              </a:rPr>
              <a:t>Dr.Rajaram</a:t>
            </a:r>
          </a:p>
          <a:p>
            <a:pPr marL="0" indent="0" algn="ctr">
              <a:buNone/>
            </a:pPr>
            <a:endParaRPr lang="en-US" sz="2000" b="1" dirty="0">
              <a:solidFill>
                <a:schemeClr val="accent5"/>
              </a:solidFill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245928" y="5243195"/>
            <a:ext cx="4558144" cy="721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5FA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Presented by:</a:t>
            </a:r>
          </a:p>
          <a:p>
            <a:pPr marL="0" indent="0" algn="l">
              <a:buNone/>
            </a:pPr>
            <a:r>
              <a:rPr lang="en-US" sz="1800" b="1" dirty="0">
                <a:solidFill>
                  <a:srgbClr val="1F5FA8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CH.BHARTH KUMAR REDDY(192411185)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38BDA7-8472-01DD-B6CF-4031B4B2F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309" y="0"/>
            <a:ext cx="7162800" cy="660861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507612-73AC-8867-A1DB-986F96365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618" y="1011382"/>
            <a:ext cx="8780734" cy="52924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325880" y="201168"/>
            <a:ext cx="9509760" cy="53035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2500" b="1" i="0">
                <a:solidFill>
                  <a:srgbClr val="08265C"/>
                </a:solidFill>
                <a:latin typeface="Georgia"/>
              </a:rPr>
              <a:t>Question 1: Student Marks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749808"/>
            <a:ext cx="9418320" cy="29260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0" i="1">
                <a:solidFill>
                  <a:srgbClr val="2C69B0"/>
                </a:solidFill>
                <a:latin typeface="Georgia"/>
              </a:rPr>
              <a:t>Primitive and non-primitive data structures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143000"/>
            <a:ext cx="11064240" cy="0"/>
          </a:xfrm>
          <a:prstGeom prst="line">
            <a:avLst/>
          </a:prstGeom>
          <a:ln w="16510">
            <a:solidFill>
              <a:srgbClr val="2C69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382512"/>
            <a:ext cx="9875520" cy="20116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800" b="0" i="0">
                <a:solidFill>
                  <a:srgbClr val="5A6473"/>
                </a:solidFill>
                <a:latin typeface="Aptos"/>
              </a:rPr>
              <a:t>CSA0308 · DATA STRUCTURES · CH. BHARATH KUMAR REDDY · 192411185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64224"/>
            <a:ext cx="502920" cy="22860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r"/>
            <a:r>
              <a:rPr sz="900" b="0" i="0">
                <a:solidFill>
                  <a:srgbClr val="5A6473"/>
                </a:solidFill>
                <a:latin typeface="Aptos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5212080" cy="914400"/>
          </a:xfrm>
          <a:prstGeom prst="roundRect">
            <a:avLst/>
          </a:prstGeom>
          <a:solidFill>
            <a:srgbClr val="EBF3FC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72768"/>
            <a:ext cx="4754880" cy="59436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500" b="0" i="0">
                <a:solidFill>
                  <a:srgbClr val="232D3C"/>
                </a:solidFill>
                <a:latin typeface="Aptos"/>
              </a:rPr>
              <a:t>Problem: manage marks for 1,000 students with quick access, updates and average calculation.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606040"/>
            <a:ext cx="521208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88920"/>
            <a:ext cx="4663440" cy="32004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700" b="1" i="0">
                <a:solidFill>
                  <a:srgbClr val="08265C"/>
                </a:solidFill>
                <a:latin typeface="Aptos"/>
              </a:rPr>
              <a:t>Primitive structures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46120"/>
            <a:ext cx="4572000" cy="41148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500" b="1" i="0">
                <a:solidFill>
                  <a:srgbClr val="2C69B0"/>
                </a:solidFill>
                <a:latin typeface="Aptos"/>
              </a:rPr>
              <a:t>int · float · char · boolean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4572000" cy="100584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400" b="0" i="0">
                <a:solidFill>
                  <a:srgbClr val="232D3C"/>
                </a:solidFill>
                <a:latin typeface="Aptos"/>
              </a:rPr>
              <a:t>Each primitive variable stores one value. Managing 1,000 separate variables is difficult.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417320"/>
            <a:ext cx="52120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600200"/>
            <a:ext cx="4663440" cy="32004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700" b="1" i="0">
                <a:solidFill>
                  <a:srgbClr val="08265C"/>
                </a:solidFill>
                <a:latin typeface="Aptos"/>
              </a:rPr>
              <a:t>Non-primitive structures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240280"/>
            <a:ext cx="685800" cy="548640"/>
          </a:xfrm>
          <a:prstGeom prst="roundRect">
            <a:avLst/>
          </a:prstGeom>
          <a:solidFill>
            <a:srgbClr val="EBF3FC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359152"/>
            <a:ext cx="685800" cy="25603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400" b="1" i="0">
                <a:solidFill>
                  <a:srgbClr val="08265C"/>
                </a:solidFill>
                <a:latin typeface="Aptos"/>
              </a:rPr>
              <a:t>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816352"/>
            <a:ext cx="685800" cy="18288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900" b="0" i="0">
                <a:solidFill>
                  <a:srgbClr val="5A6473"/>
                </a:solidFill>
                <a:latin typeface="Aptos"/>
              </a:rPr>
              <a:t>[0]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2240280"/>
            <a:ext cx="685800" cy="548640"/>
          </a:xfrm>
          <a:prstGeom prst="roundRect">
            <a:avLst/>
          </a:prstGeom>
          <a:solidFill>
            <a:srgbClr val="EBF3FC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2359152"/>
            <a:ext cx="685800" cy="25603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400" b="1" i="0">
                <a:solidFill>
                  <a:srgbClr val="08265C"/>
                </a:solidFill>
                <a:latin typeface="Aptos"/>
              </a:rPr>
              <a:t>88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816352"/>
            <a:ext cx="685800" cy="18288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900" b="0" i="0">
                <a:solidFill>
                  <a:srgbClr val="5A6473"/>
                </a:solidFill>
                <a:latin typeface="Aptos"/>
              </a:rPr>
              <a:t>[1]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2240280"/>
            <a:ext cx="685800" cy="548640"/>
          </a:xfrm>
          <a:prstGeom prst="roundRect">
            <a:avLst/>
          </a:prstGeom>
          <a:solidFill>
            <a:srgbClr val="EBF3FC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2359152"/>
            <a:ext cx="685800" cy="25603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400" b="1" i="0">
                <a:solidFill>
                  <a:srgbClr val="08265C"/>
                </a:solidFill>
                <a:latin typeface="Aptos"/>
              </a:rPr>
              <a:t>91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816352"/>
            <a:ext cx="685800" cy="18288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900" b="0" i="0">
                <a:solidFill>
                  <a:srgbClr val="5A6473"/>
                </a:solidFill>
                <a:latin typeface="Aptos"/>
              </a:rPr>
              <a:t>[2]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2240280"/>
            <a:ext cx="685800" cy="548640"/>
          </a:xfrm>
          <a:prstGeom prst="roundRect">
            <a:avLst/>
          </a:prstGeom>
          <a:solidFill>
            <a:srgbClr val="EBF3FC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2359152"/>
            <a:ext cx="685800" cy="25603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400" b="1" i="0">
                <a:solidFill>
                  <a:srgbClr val="08265C"/>
                </a:solidFill>
                <a:latin typeface="Aptos"/>
              </a:rPr>
              <a:t>67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816352"/>
            <a:ext cx="685800" cy="18288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900" b="0" i="0">
                <a:solidFill>
                  <a:srgbClr val="5A6473"/>
                </a:solidFill>
                <a:latin typeface="Aptos"/>
              </a:rPr>
              <a:t>[3]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12680" y="2240280"/>
            <a:ext cx="685800" cy="548640"/>
          </a:xfrm>
          <a:prstGeom prst="roundRect">
            <a:avLst/>
          </a:prstGeom>
          <a:solidFill>
            <a:srgbClr val="EBF3FC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12680" y="2359152"/>
            <a:ext cx="685800" cy="25603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400" b="1" i="0">
                <a:solidFill>
                  <a:srgbClr val="08265C"/>
                </a:solidFill>
                <a:latin typeface="Aptos"/>
              </a:rPr>
              <a:t>84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2816352"/>
            <a:ext cx="685800" cy="18288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900" b="0" i="0">
                <a:solidFill>
                  <a:srgbClr val="5A6473"/>
                </a:solidFill>
                <a:latin typeface="Aptos"/>
              </a:rPr>
              <a:t>[4]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337560"/>
            <a:ext cx="4480560" cy="68580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400" b="0" i="0">
                <a:solidFill>
                  <a:srgbClr val="232D3C"/>
                </a:solidFill>
                <a:latin typeface="Aptos"/>
              </a:rPr>
              <a:t>An array stores values together in indexed, contiguous memory.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297680"/>
            <a:ext cx="4480560" cy="59436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500" b="1" i="0">
                <a:solidFill>
                  <a:srgbClr val="008787"/>
                </a:solidFill>
                <a:latin typeface="Aptos"/>
              </a:rPr>
              <a:t>Decision: use an array for a fixed set of 1,000 marks.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325880" y="201168"/>
            <a:ext cx="9509760" cy="53035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2500" b="1" i="0">
                <a:solidFill>
                  <a:srgbClr val="08265C"/>
                </a:solidFill>
                <a:latin typeface="Georgia"/>
              </a:rPr>
              <a:t>Why an Array Fits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749808"/>
            <a:ext cx="9418320" cy="29260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0" i="1">
                <a:solidFill>
                  <a:srgbClr val="2C69B0"/>
                </a:solidFill>
                <a:latin typeface="Georgia"/>
              </a:rPr>
              <a:t>Compare common operations and memory use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1143000"/>
            <a:ext cx="11064240" cy="0"/>
          </a:xfrm>
          <a:prstGeom prst="line">
            <a:avLst/>
          </a:prstGeom>
          <a:ln w="16510">
            <a:solidFill>
              <a:srgbClr val="2C69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6382512"/>
            <a:ext cx="9875520" cy="20116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800" b="0" i="0">
                <a:solidFill>
                  <a:srgbClr val="5A6473"/>
                </a:solidFill>
                <a:latin typeface="Aptos"/>
              </a:rPr>
              <a:t>CSA0308 · DATA STRUCTURES · CH. BHARATH KUMAR REDDY · 192411185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364224"/>
            <a:ext cx="502920" cy="22860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r"/>
            <a:r>
              <a:rPr sz="900" b="0" i="0">
                <a:solidFill>
                  <a:srgbClr val="5A6473"/>
                </a:solidFill>
                <a:latin typeface="Aptos"/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1508760"/>
            <a:ext cx="3017520" cy="502920"/>
          </a:xfrm>
          <a:prstGeom prst="rect">
            <a:avLst/>
          </a:prstGeom>
          <a:solidFill>
            <a:srgbClr val="08265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1527048"/>
            <a:ext cx="296265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Operation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39" y="1508760"/>
            <a:ext cx="1828800" cy="502920"/>
          </a:xfrm>
          <a:prstGeom prst="rect">
            <a:avLst/>
          </a:prstGeom>
          <a:solidFill>
            <a:srgbClr val="08265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76472" y="1527048"/>
            <a:ext cx="177393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Array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77840" y="1508760"/>
            <a:ext cx="2011680" cy="502920"/>
          </a:xfrm>
          <a:prstGeom prst="rect">
            <a:avLst/>
          </a:prstGeom>
          <a:solidFill>
            <a:srgbClr val="08265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05272" y="1527048"/>
            <a:ext cx="195681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Linked list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2011680"/>
            <a:ext cx="3017520" cy="502920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2" y="2029968"/>
            <a:ext cx="296265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300" b="1" i="0">
                <a:solidFill>
                  <a:srgbClr val="232D3C"/>
                </a:solidFill>
                <a:latin typeface="Aptos"/>
              </a:rPr>
              <a:t>Access by index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49039" y="2011680"/>
            <a:ext cx="1828800" cy="502920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76472" y="2029968"/>
            <a:ext cx="177393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0" i="0">
                <a:solidFill>
                  <a:srgbClr val="232D3C"/>
                </a:solidFill>
                <a:latin typeface="Aptos"/>
              </a:rPr>
              <a:t>O(1)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77840" y="2011680"/>
            <a:ext cx="2011680" cy="502920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05272" y="2029968"/>
            <a:ext cx="195681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0" i="0">
                <a:solidFill>
                  <a:srgbClr val="232D3C"/>
                </a:solidFill>
                <a:latin typeface="Aptos"/>
              </a:rPr>
              <a:t>O(n)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2514600"/>
            <a:ext cx="30175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952" y="2532888"/>
            <a:ext cx="296265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300" b="1" i="0">
                <a:solidFill>
                  <a:srgbClr val="232D3C"/>
                </a:solidFill>
                <a:latin typeface="Aptos"/>
              </a:rPr>
              <a:t>Update by index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49039" y="251460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76472" y="2532888"/>
            <a:ext cx="177393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0" i="0">
                <a:solidFill>
                  <a:srgbClr val="232D3C"/>
                </a:solidFill>
                <a:latin typeface="Aptos"/>
              </a:rPr>
              <a:t>O(1)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77840" y="2514600"/>
            <a:ext cx="2011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05272" y="2532888"/>
            <a:ext cx="195681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0" i="0">
                <a:solidFill>
                  <a:srgbClr val="232D3C"/>
                </a:solidFill>
                <a:latin typeface="Aptos"/>
              </a:rPr>
              <a:t>O(n)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3017520"/>
            <a:ext cx="3017520" cy="502920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8952" y="3035808"/>
            <a:ext cx="296265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300" b="1" i="0">
                <a:solidFill>
                  <a:srgbClr val="232D3C"/>
                </a:solidFill>
                <a:latin typeface="Aptos"/>
              </a:rPr>
              <a:t>Search by value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49039" y="3017520"/>
            <a:ext cx="1828800" cy="502920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76472" y="3035808"/>
            <a:ext cx="177393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0" i="0">
                <a:solidFill>
                  <a:srgbClr val="232D3C"/>
                </a:solidFill>
                <a:latin typeface="Aptos"/>
              </a:rPr>
              <a:t>O(n)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77840" y="3017520"/>
            <a:ext cx="2011680" cy="502920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05272" y="3035808"/>
            <a:ext cx="195681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0" i="0">
                <a:solidFill>
                  <a:srgbClr val="232D3C"/>
                </a:solidFill>
                <a:latin typeface="Aptos"/>
              </a:rPr>
              <a:t>O(n)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3520440"/>
            <a:ext cx="30175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8952" y="3538728"/>
            <a:ext cx="296265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300" b="1" i="0">
                <a:solidFill>
                  <a:srgbClr val="232D3C"/>
                </a:solidFill>
                <a:latin typeface="Aptos"/>
              </a:rPr>
              <a:t>Traverse all marks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9039" y="352044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76472" y="3538728"/>
            <a:ext cx="177393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0" i="0">
                <a:solidFill>
                  <a:srgbClr val="232D3C"/>
                </a:solidFill>
                <a:latin typeface="Aptos"/>
              </a:rPr>
              <a:t>O(n)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77840" y="3520440"/>
            <a:ext cx="20116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05272" y="3538728"/>
            <a:ext cx="195681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0" i="0">
                <a:solidFill>
                  <a:srgbClr val="232D3C"/>
                </a:solidFill>
                <a:latin typeface="Aptos"/>
              </a:rPr>
              <a:t>O(n)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001000" y="1645920"/>
            <a:ext cx="3200400" cy="2560320"/>
          </a:xfrm>
          <a:prstGeom prst="roundRect">
            <a:avLst/>
          </a:prstGeom>
          <a:solidFill>
            <a:srgbClr val="EBF3FC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29600" y="1874519"/>
            <a:ext cx="2743200" cy="32004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700" b="1" i="0">
                <a:solidFill>
                  <a:srgbClr val="08265C"/>
                </a:solidFill>
                <a:latin typeface="Aptos"/>
              </a:rPr>
              <a:t>Key reason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0" y="2468880"/>
            <a:ext cx="2743200" cy="118872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500" b="0" i="0">
                <a:solidFill>
                  <a:srgbClr val="232D3C"/>
                </a:solidFill>
                <a:latin typeface="Aptos"/>
              </a:rPr>
              <a:t>The index directly identifies the student's position, so no scan is needed.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" y="4572000"/>
            <a:ext cx="10241280" cy="73152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400" b="0" i="0">
                <a:solidFill>
                  <a:srgbClr val="5A6473"/>
                </a:solidFill>
                <a:latin typeface="Aptos"/>
              </a:rPr>
              <a:t>Trade-off: inserting or deleting in the middle may require shifting O(n) elements.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325880" y="201168"/>
            <a:ext cx="9509760" cy="53035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2500" b="1" i="0">
                <a:solidFill>
                  <a:srgbClr val="08265C"/>
                </a:solidFill>
                <a:latin typeface="Georgia"/>
              </a:rPr>
              <a:t>Implementation and Complexity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749808"/>
            <a:ext cx="9418320" cy="29260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0" i="1">
                <a:solidFill>
                  <a:srgbClr val="2C69B0"/>
                </a:solidFill>
                <a:latin typeface="Georgia"/>
              </a:rPr>
              <a:t>Example array operations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143000"/>
            <a:ext cx="11064240" cy="0"/>
          </a:xfrm>
          <a:prstGeom prst="line">
            <a:avLst/>
          </a:prstGeom>
          <a:ln w="16510">
            <a:solidFill>
              <a:srgbClr val="2C69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382512"/>
            <a:ext cx="9875520" cy="20116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800" b="0" i="0">
                <a:solidFill>
                  <a:srgbClr val="5A6473"/>
                </a:solidFill>
                <a:latin typeface="Aptos"/>
              </a:rPr>
              <a:t>CSA0308 · DATA STRUCTURES · CH. BHARATH KUMAR REDDY · 192411185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64224"/>
            <a:ext cx="502920" cy="22860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r"/>
            <a:r>
              <a:rPr sz="900" b="0" i="0">
                <a:solidFill>
                  <a:srgbClr val="5A6473"/>
                </a:solidFill>
                <a:latin typeface="Aptos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08760"/>
            <a:ext cx="5486400" cy="4297680"/>
          </a:xfrm>
          <a:prstGeom prst="roundRect">
            <a:avLst/>
          </a:prstGeom>
          <a:solidFill>
            <a:srgbClr val="08265C"/>
          </a:solidFill>
          <a:ln>
            <a:solidFill>
              <a:srgbClr val="082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37360"/>
            <a:ext cx="5029200" cy="310896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onsolas"/>
              </a:rPr>
              <a:t>int marks[1000];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76272"/>
            <a:ext cx="5029200" cy="310896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onsolas"/>
              </a:rPr>
              <a:t>marks[749] = 88;   // 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615184"/>
            <a:ext cx="5029200" cy="310896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onsolas"/>
              </a:rPr>
              <a:t>int m = marks[749]; //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54096"/>
            <a:ext cx="5029200" cy="310896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onsola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93008"/>
            <a:ext cx="5029200" cy="310896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onsolas"/>
              </a:rPr>
              <a:t>int sum = 0;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31920"/>
            <a:ext cx="5029200" cy="310896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onsolas"/>
              </a:rPr>
              <a:t>for (int i = 0; i &lt; 1000; i++)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370831"/>
            <a:ext cx="5029200" cy="310896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onsolas"/>
              </a:rPr>
              <a:t>    sum += marks[i];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809744"/>
            <a:ext cx="5029200" cy="310896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onsolas"/>
              </a:rPr>
              <a:t>float avg = sum / 1000.0;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645920"/>
            <a:ext cx="4389120" cy="32004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800" b="1" i="0">
                <a:solidFill>
                  <a:srgbClr val="08265C"/>
                </a:solidFill>
                <a:latin typeface="Aptos"/>
              </a:rPr>
              <a:t>Complexity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2148840"/>
            <a:ext cx="2194560" cy="502920"/>
          </a:xfrm>
          <a:prstGeom prst="rect">
            <a:avLst/>
          </a:prstGeom>
          <a:solidFill>
            <a:srgbClr val="08265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167128"/>
            <a:ext cx="213969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Operation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32520" y="2148840"/>
            <a:ext cx="1828800" cy="502920"/>
          </a:xfrm>
          <a:prstGeom prst="rect">
            <a:avLst/>
          </a:prstGeom>
          <a:solidFill>
            <a:srgbClr val="08265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59952" y="2167128"/>
            <a:ext cx="177393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2651760"/>
            <a:ext cx="2194560" cy="502920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2670048"/>
            <a:ext cx="213969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300" b="1" i="0">
                <a:solidFill>
                  <a:srgbClr val="232D3C"/>
                </a:solidFill>
                <a:latin typeface="Aptos"/>
              </a:rPr>
              <a:t>Read/update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32520" y="2651760"/>
            <a:ext cx="1828800" cy="502920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59952" y="2670048"/>
            <a:ext cx="177393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0" i="0">
                <a:solidFill>
                  <a:srgbClr val="232D3C"/>
                </a:solidFill>
                <a:latin typeface="Aptos"/>
              </a:rPr>
              <a:t>O(1)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3154680"/>
            <a:ext cx="219456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3172968"/>
            <a:ext cx="213969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300" b="1" i="0">
                <a:solidFill>
                  <a:srgbClr val="232D3C"/>
                </a:solidFill>
                <a:latin typeface="Aptos"/>
              </a:rPr>
              <a:t>Average scan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32520" y="315468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59952" y="3172968"/>
            <a:ext cx="177393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0" i="0">
                <a:solidFill>
                  <a:srgbClr val="232D3C"/>
                </a:solidFill>
                <a:latin typeface="Aptos"/>
              </a:rPr>
              <a:t>O(n)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3657600"/>
            <a:ext cx="2194560" cy="502920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3675887"/>
            <a:ext cx="213969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300" b="1" i="0">
                <a:solidFill>
                  <a:srgbClr val="232D3C"/>
                </a:solidFill>
                <a:latin typeface="Aptos"/>
              </a:rPr>
              <a:t>Space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2520" y="3657600"/>
            <a:ext cx="1828800" cy="502920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59952" y="3675887"/>
            <a:ext cx="177393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0" i="0">
                <a:solidFill>
                  <a:srgbClr val="232D3C"/>
                </a:solidFill>
                <a:latin typeface="Aptos"/>
              </a:rPr>
              <a:t>O(n)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572000"/>
            <a:ext cx="4389120" cy="68580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400" b="0" i="0">
                <a:solidFill>
                  <a:srgbClr val="232D3C"/>
                </a:solidFill>
                <a:latin typeface="Aptos"/>
              </a:rPr>
              <a:t>A fixed array is practical when the number of students is known.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325880" y="201168"/>
            <a:ext cx="9509760" cy="53035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2500" b="1" i="0">
                <a:solidFill>
                  <a:srgbClr val="08265C"/>
                </a:solidFill>
                <a:latin typeface="Georgia"/>
              </a:rPr>
              <a:t>Question 2: Graph for City Navigation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749808"/>
            <a:ext cx="9418320" cy="29260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0" i="1">
                <a:solidFill>
                  <a:srgbClr val="2C69B0"/>
                </a:solidFill>
                <a:latin typeface="Georgia"/>
              </a:rPr>
              <a:t>Non-linear structure for connected locations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143000"/>
            <a:ext cx="11064240" cy="0"/>
          </a:xfrm>
          <a:prstGeom prst="line">
            <a:avLst/>
          </a:prstGeom>
          <a:ln w="16510">
            <a:solidFill>
              <a:srgbClr val="2C69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382512"/>
            <a:ext cx="9875520" cy="20116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800" b="0" i="0">
                <a:solidFill>
                  <a:srgbClr val="5A6473"/>
                </a:solidFill>
                <a:latin typeface="Aptos"/>
              </a:rPr>
              <a:t>CSA0308 · DATA STRUCTURES · CH. BHARATH KUMAR REDDY · 192411185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64224"/>
            <a:ext cx="502920" cy="22860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r"/>
            <a:r>
              <a:rPr sz="900" b="0" i="0">
                <a:solidFill>
                  <a:srgbClr val="5A6473"/>
                </a:solidFill>
                <a:latin typeface="Aptos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53312"/>
            <a:ext cx="4846320" cy="64008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500" b="0" i="0">
                <a:solidFill>
                  <a:srgbClr val="232D3C"/>
                </a:solidFill>
                <a:latin typeface="Aptos"/>
              </a:rPr>
              <a:t>Cities are vertices; roads are weighted edges. Weights represent distance or travel time.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1554480" y="2514600"/>
            <a:ext cx="1737360" cy="1143000"/>
          </a:xfrm>
          <a:prstGeom prst="line">
            <a:avLst/>
          </a:prstGeom>
          <a:ln w="25400">
            <a:solidFill>
              <a:srgbClr val="96AF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240280" y="2903220"/>
            <a:ext cx="320040" cy="20116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000" b="1" i="0">
                <a:solidFill>
                  <a:srgbClr val="E86823"/>
                </a:solidFill>
                <a:latin typeface="Aptos"/>
              </a:rPr>
              <a:t>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657600"/>
            <a:ext cx="1737360" cy="1143000"/>
          </a:xfrm>
          <a:prstGeom prst="line">
            <a:avLst/>
          </a:prstGeom>
          <a:ln w="25400">
            <a:solidFill>
              <a:srgbClr val="96AF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40280" y="4046220"/>
            <a:ext cx="320040" cy="20116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000" b="1" i="0">
                <a:solidFill>
                  <a:srgbClr val="E86823"/>
                </a:solidFill>
                <a:latin typeface="Aptos"/>
              </a:rPr>
              <a:t>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91840" y="2514600"/>
            <a:ext cx="0" cy="2286000"/>
          </a:xfrm>
          <a:prstGeom prst="line">
            <a:avLst/>
          </a:prstGeom>
          <a:ln w="25400">
            <a:solidFill>
              <a:srgbClr val="96AF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08960" y="3474720"/>
            <a:ext cx="320040" cy="20116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000" b="1" i="0">
                <a:solidFill>
                  <a:srgbClr val="E86823"/>
                </a:solidFill>
                <a:latin typeface="Aptos"/>
              </a:rPr>
              <a:t>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91840" y="2514600"/>
            <a:ext cx="2194560" cy="0"/>
          </a:xfrm>
          <a:prstGeom prst="line">
            <a:avLst/>
          </a:prstGeom>
          <a:ln w="25400">
            <a:solidFill>
              <a:srgbClr val="96AF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06240" y="2331720"/>
            <a:ext cx="320040" cy="20116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000" b="1" i="0">
                <a:solidFill>
                  <a:srgbClr val="E86823"/>
                </a:solidFill>
                <a:latin typeface="Aptos"/>
              </a:rPr>
              <a:t>5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291840" y="2514600"/>
            <a:ext cx="2194560" cy="2286000"/>
          </a:xfrm>
          <a:prstGeom prst="line">
            <a:avLst/>
          </a:prstGeom>
          <a:ln w="25400">
            <a:solidFill>
              <a:srgbClr val="96AF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206240" y="3474720"/>
            <a:ext cx="320040" cy="20116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000" b="1" i="0">
                <a:solidFill>
                  <a:srgbClr val="E86823"/>
                </a:solidFill>
                <a:latin typeface="Aptos"/>
              </a:rPr>
              <a:t>8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91840" y="4800600"/>
            <a:ext cx="2194560" cy="0"/>
          </a:xfrm>
          <a:prstGeom prst="line">
            <a:avLst/>
          </a:prstGeom>
          <a:ln w="25400">
            <a:solidFill>
              <a:srgbClr val="96AF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206240" y="4617720"/>
            <a:ext cx="320040" cy="20116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000" b="1" i="0">
                <a:solidFill>
                  <a:srgbClr val="E86823"/>
                </a:solidFill>
                <a:latin typeface="Aptos"/>
              </a:rPr>
              <a:t>10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0" y="2514600"/>
            <a:ext cx="0" cy="2286000"/>
          </a:xfrm>
          <a:prstGeom prst="line">
            <a:avLst/>
          </a:prstGeom>
          <a:ln w="25400">
            <a:solidFill>
              <a:srgbClr val="96AF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303520" y="3474720"/>
            <a:ext cx="320040" cy="20116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000" b="1" i="0">
                <a:solidFill>
                  <a:srgbClr val="E86823"/>
                </a:solidFill>
                <a:latin typeface="Aptos"/>
              </a:rPr>
              <a:t>2</a:t>
            </a:r>
          </a:p>
        </p:txBody>
      </p:sp>
      <p:sp>
        <p:nvSpPr>
          <p:cNvPr id="25" name="Oval 24"/>
          <p:cNvSpPr/>
          <p:nvPr/>
        </p:nvSpPr>
        <p:spPr>
          <a:xfrm>
            <a:off x="1371600" y="3474720"/>
            <a:ext cx="411480" cy="411480"/>
          </a:xfrm>
          <a:prstGeom prst="ellipse">
            <a:avLst/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6" name="Oval 25"/>
          <p:cNvSpPr/>
          <p:nvPr/>
        </p:nvSpPr>
        <p:spPr>
          <a:xfrm>
            <a:off x="3108960" y="2331720"/>
            <a:ext cx="411480" cy="411480"/>
          </a:xfrm>
          <a:prstGeom prst="ellipse">
            <a:avLst/>
          </a:prstGeom>
          <a:solidFill>
            <a:srgbClr val="2C69B0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27" name="Oval 26"/>
          <p:cNvSpPr/>
          <p:nvPr/>
        </p:nvSpPr>
        <p:spPr>
          <a:xfrm>
            <a:off x="3108960" y="4617720"/>
            <a:ext cx="411480" cy="411480"/>
          </a:xfrm>
          <a:prstGeom prst="ellipse">
            <a:avLst/>
          </a:prstGeom>
          <a:solidFill>
            <a:srgbClr val="2C69B0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8" name="Oval 27"/>
          <p:cNvSpPr/>
          <p:nvPr/>
        </p:nvSpPr>
        <p:spPr>
          <a:xfrm>
            <a:off x="5303520" y="2331720"/>
            <a:ext cx="411480" cy="411480"/>
          </a:xfrm>
          <a:prstGeom prst="ellipse">
            <a:avLst/>
          </a:prstGeom>
          <a:solidFill>
            <a:srgbClr val="2C69B0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9" name="Oval 28"/>
          <p:cNvSpPr/>
          <p:nvPr/>
        </p:nvSpPr>
        <p:spPr>
          <a:xfrm>
            <a:off x="5303520" y="4617720"/>
            <a:ext cx="411480" cy="411480"/>
          </a:xfrm>
          <a:prstGeom prst="ellipse">
            <a:avLst/>
          </a:prstGeom>
          <a:solidFill>
            <a:srgbClr val="2C69B0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1463040"/>
            <a:ext cx="4663440" cy="1024128"/>
          </a:xfrm>
          <a:prstGeom prst="roundRect">
            <a:avLst/>
          </a:prstGeom>
          <a:solidFill>
            <a:srgbClr val="EBF3FC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1572768"/>
            <a:ext cx="4206240" cy="25603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500" b="1" i="0">
                <a:solidFill>
                  <a:srgbClr val="08265C"/>
                </a:solidFill>
                <a:latin typeface="Aptos"/>
              </a:rPr>
              <a:t>Why graph?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1901952"/>
            <a:ext cx="4206240" cy="43891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300" b="0" i="0">
                <a:solidFill>
                  <a:srgbClr val="232D3C"/>
                </a:solidFill>
                <a:latin typeface="Aptos"/>
              </a:rPr>
              <a:t>Supports multiple links, alternate routes and cycles.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2761488"/>
            <a:ext cx="4663440" cy="1024128"/>
          </a:xfrm>
          <a:prstGeom prst="roundRect">
            <a:avLst/>
          </a:prstGeom>
          <a:solidFill>
            <a:srgbClr val="EBF3FC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2871216"/>
            <a:ext cx="4206240" cy="25603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500" b="1" i="0">
                <a:solidFill>
                  <a:srgbClr val="08265C"/>
                </a:solidFill>
                <a:latin typeface="Aptos"/>
              </a:rPr>
              <a:t>Representation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3200400"/>
            <a:ext cx="4206240" cy="43891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300" b="0" i="0">
                <a:solidFill>
                  <a:srgbClr val="232D3C"/>
                </a:solidFill>
                <a:latin typeface="Aptos"/>
              </a:rPr>
              <a:t>Adjacency list saves space for sparse road networks.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4059935"/>
            <a:ext cx="4663440" cy="1024128"/>
          </a:xfrm>
          <a:prstGeom prst="roundRect">
            <a:avLst/>
          </a:prstGeom>
          <a:solidFill>
            <a:srgbClr val="EBF3FC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4169663"/>
            <a:ext cx="4206240" cy="25603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500" b="1" i="0">
                <a:solidFill>
                  <a:srgbClr val="08265C"/>
                </a:solidFill>
                <a:latin typeface="Aptos"/>
              </a:rPr>
              <a:t>Algorithm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4498848"/>
            <a:ext cx="4206240" cy="43891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300" b="0" i="0">
                <a:solidFill>
                  <a:srgbClr val="232D3C"/>
                </a:solidFill>
                <a:latin typeface="Aptos"/>
              </a:rPr>
              <a:t>Dijkstra finds shortest paths with non-negative weights.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325880" y="201168"/>
            <a:ext cx="9509760" cy="53035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2500" b="1" i="0">
                <a:solidFill>
                  <a:srgbClr val="08265C"/>
                </a:solidFill>
                <a:latin typeface="Georgia"/>
              </a:rPr>
              <a:t>Graph Representation and Dijkstra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749808"/>
            <a:ext cx="9418320" cy="29260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0" i="1">
                <a:solidFill>
                  <a:srgbClr val="2C69B0"/>
                </a:solidFill>
                <a:latin typeface="Georgia"/>
              </a:rPr>
              <a:t>Adjacency list saves space for sparse road networks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1143000"/>
            <a:ext cx="11064240" cy="0"/>
          </a:xfrm>
          <a:prstGeom prst="line">
            <a:avLst/>
          </a:prstGeom>
          <a:ln w="16510">
            <a:solidFill>
              <a:srgbClr val="2C69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6382512"/>
            <a:ext cx="9875520" cy="20116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800" b="0" i="0">
                <a:solidFill>
                  <a:srgbClr val="5A6473"/>
                </a:solidFill>
                <a:latin typeface="Aptos"/>
              </a:rPr>
              <a:t>CSA0308 · DATA STRUCTURES · CH. BHARATH KUMAR REDDY · 192411185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364224"/>
            <a:ext cx="502920" cy="22860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r"/>
            <a:r>
              <a:rPr sz="900" b="0" i="0">
                <a:solidFill>
                  <a:srgbClr val="5A6473"/>
                </a:solidFill>
                <a:latin typeface="Aptos"/>
              </a:rP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1508760"/>
            <a:ext cx="2103120" cy="512064"/>
          </a:xfrm>
          <a:prstGeom prst="rect">
            <a:avLst/>
          </a:prstGeom>
          <a:solidFill>
            <a:srgbClr val="08265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1527048"/>
            <a:ext cx="2048255" cy="47548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Criterion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39" y="1508760"/>
            <a:ext cx="2194560" cy="512064"/>
          </a:xfrm>
          <a:prstGeom prst="rect">
            <a:avLst/>
          </a:prstGeom>
          <a:solidFill>
            <a:srgbClr val="08265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62071" y="1527048"/>
            <a:ext cx="2139696" cy="47548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Matrix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0" y="1508760"/>
            <a:ext cx="2194560" cy="512064"/>
          </a:xfrm>
          <a:prstGeom prst="rect">
            <a:avLst/>
          </a:prstGeom>
          <a:solidFill>
            <a:srgbClr val="08265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56632" y="1527048"/>
            <a:ext cx="2139696" cy="47548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Adjacency list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2020824"/>
            <a:ext cx="2103120" cy="512064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2" y="2039112"/>
            <a:ext cx="2048255" cy="47548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200" b="1" i="0">
                <a:solidFill>
                  <a:srgbClr val="232D3C"/>
                </a:solidFill>
                <a:latin typeface="Aptos"/>
              </a:rPr>
              <a:t>Space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34639" y="2020824"/>
            <a:ext cx="2194560" cy="512064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62071" y="2039112"/>
            <a:ext cx="2139696" cy="47548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O(V²)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0" y="2020824"/>
            <a:ext cx="2194560" cy="512064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56632" y="2039112"/>
            <a:ext cx="2139696" cy="47548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O(V + 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2532888"/>
            <a:ext cx="210312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952" y="2551176"/>
            <a:ext cx="2048255" cy="47548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200" b="1" i="0">
                <a:solidFill>
                  <a:srgbClr val="232D3C"/>
                </a:solidFill>
                <a:latin typeface="Aptos"/>
              </a:rPr>
              <a:t>Check edge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34639" y="2532888"/>
            <a:ext cx="219456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62071" y="2551176"/>
            <a:ext cx="2139696" cy="47548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O(1)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0" y="2532888"/>
            <a:ext cx="2194560" cy="512064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56632" y="2551176"/>
            <a:ext cx="2139696" cy="47548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O(degree)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3044952"/>
            <a:ext cx="2103120" cy="512064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8952" y="3063240"/>
            <a:ext cx="2048255" cy="47548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200" b="1" i="0">
                <a:solidFill>
                  <a:srgbClr val="232D3C"/>
                </a:solidFill>
                <a:latin typeface="Aptos"/>
              </a:rPr>
              <a:t>List neighbours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34639" y="3044952"/>
            <a:ext cx="2194560" cy="512064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862071" y="3063240"/>
            <a:ext cx="2139696" cy="47548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O(V)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0" y="3044952"/>
            <a:ext cx="2194560" cy="512064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56632" y="3063240"/>
            <a:ext cx="2139696" cy="47548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O(degree)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43800" y="1554480"/>
            <a:ext cx="3383280" cy="32004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700" b="1" i="0">
                <a:solidFill>
                  <a:srgbClr val="08265C"/>
                </a:solidFill>
                <a:latin typeface="Aptos"/>
              </a:rPr>
              <a:t>Dijkstra steps</a:t>
            </a:r>
          </a:p>
        </p:txBody>
      </p:sp>
      <p:sp>
        <p:nvSpPr>
          <p:cNvPr id="56" name="Oval 55"/>
          <p:cNvSpPr/>
          <p:nvPr/>
        </p:nvSpPr>
        <p:spPr>
          <a:xfrm>
            <a:off x="7543800" y="2057400"/>
            <a:ext cx="137160" cy="137160"/>
          </a:xfrm>
          <a:prstGeom prst="ellipse">
            <a:avLst/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2039112"/>
            <a:ext cx="3246120" cy="34747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200" b="0" i="0">
                <a:solidFill>
                  <a:srgbClr val="232D3C"/>
                </a:solidFill>
                <a:latin typeface="Aptos"/>
              </a:rPr>
              <a:t>Set source distance to 0; others to infinity.</a:t>
            </a:r>
          </a:p>
        </p:txBody>
      </p:sp>
      <p:sp>
        <p:nvSpPr>
          <p:cNvPr id="58" name="Oval 57"/>
          <p:cNvSpPr/>
          <p:nvPr/>
        </p:nvSpPr>
        <p:spPr>
          <a:xfrm>
            <a:off x="7543800" y="2743200"/>
            <a:ext cx="137160" cy="137160"/>
          </a:xfrm>
          <a:prstGeom prst="ellipse">
            <a:avLst/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72400" y="2724912"/>
            <a:ext cx="3246120" cy="34747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200" b="0" i="0">
                <a:solidFill>
                  <a:srgbClr val="232D3C"/>
                </a:solidFill>
                <a:latin typeface="Aptos"/>
              </a:rPr>
              <a:t>Pick the unvisited city with minimum distance.</a:t>
            </a:r>
          </a:p>
        </p:txBody>
      </p:sp>
      <p:sp>
        <p:nvSpPr>
          <p:cNvPr id="60" name="Oval 59"/>
          <p:cNvSpPr/>
          <p:nvPr/>
        </p:nvSpPr>
        <p:spPr>
          <a:xfrm>
            <a:off x="7543800" y="3429000"/>
            <a:ext cx="137160" cy="137160"/>
          </a:xfrm>
          <a:prstGeom prst="ellipse">
            <a:avLst/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0" y="3410712"/>
            <a:ext cx="3246120" cy="34747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200" b="0" i="0">
                <a:solidFill>
                  <a:srgbClr val="232D3C"/>
                </a:solidFill>
                <a:latin typeface="Aptos"/>
              </a:rPr>
              <a:t>Relax edges if a shorter path is found.</a:t>
            </a:r>
          </a:p>
        </p:txBody>
      </p:sp>
      <p:sp>
        <p:nvSpPr>
          <p:cNvPr id="62" name="Oval 61"/>
          <p:cNvSpPr/>
          <p:nvPr/>
        </p:nvSpPr>
        <p:spPr>
          <a:xfrm>
            <a:off x="7543800" y="4114800"/>
            <a:ext cx="137160" cy="137160"/>
          </a:xfrm>
          <a:prstGeom prst="ellipse">
            <a:avLst/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72400" y="4096512"/>
            <a:ext cx="3246120" cy="34747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200" b="0" i="0">
                <a:solidFill>
                  <a:srgbClr val="232D3C"/>
                </a:solidFill>
                <a:latin typeface="Aptos"/>
              </a:rPr>
              <a:t>Repeat until destination is finalized.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14400" y="4572000"/>
            <a:ext cx="10241280" cy="594360"/>
          </a:xfrm>
          <a:prstGeom prst="roundRect">
            <a:avLst/>
          </a:prstGeom>
          <a:solidFill>
            <a:srgbClr val="08265C"/>
          </a:solidFill>
          <a:ln>
            <a:solidFill>
              <a:srgbClr val="082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97280" y="4718304"/>
            <a:ext cx="9875520" cy="27432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With a min-heap: O((V + E) log V) time; O(V) extra space.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1325880" y="201168"/>
            <a:ext cx="9509760" cy="53035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2500" b="1" i="0">
                <a:solidFill>
                  <a:srgbClr val="08265C"/>
                </a:solidFill>
                <a:latin typeface="Georgia"/>
              </a:rPr>
              <a:t>Dijkstra in 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749808"/>
            <a:ext cx="9418320" cy="29260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0" i="1">
                <a:solidFill>
                  <a:srgbClr val="2C69B0"/>
                </a:solidFill>
                <a:latin typeface="Georgia"/>
              </a:rPr>
              <a:t>Illustrative shortest route from A to 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8640" y="1143000"/>
            <a:ext cx="11064240" cy="0"/>
          </a:xfrm>
          <a:prstGeom prst="line">
            <a:avLst/>
          </a:prstGeom>
          <a:ln w="16510">
            <a:solidFill>
              <a:srgbClr val="2C69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02920" y="6382512"/>
            <a:ext cx="9875520" cy="20116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800" b="0" i="0">
                <a:solidFill>
                  <a:srgbClr val="5A6473"/>
                </a:solidFill>
                <a:latin typeface="Aptos"/>
              </a:rPr>
              <a:t>CSA0308 · DATA STRUCTURES · CH. BHARATH KUMAR REDDY · 192411185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18520" y="6364224"/>
            <a:ext cx="502920" cy="22860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r"/>
            <a:r>
              <a:rPr sz="900" b="0" i="0">
                <a:solidFill>
                  <a:srgbClr val="5A6473"/>
                </a:solidFill>
                <a:latin typeface="Aptos"/>
              </a:rPr>
              <a:t>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" y="1645920"/>
            <a:ext cx="2011680" cy="530352"/>
          </a:xfrm>
          <a:prstGeom prst="rect">
            <a:avLst/>
          </a:prstGeom>
          <a:solidFill>
            <a:srgbClr val="08265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832" y="1664208"/>
            <a:ext cx="195681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City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26080" y="1645920"/>
            <a:ext cx="2194560" cy="530352"/>
          </a:xfrm>
          <a:prstGeom prst="rect">
            <a:avLst/>
          </a:prstGeom>
          <a:solidFill>
            <a:srgbClr val="08265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53512" y="1664208"/>
            <a:ext cx="213969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Distance from 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20640" y="1645920"/>
            <a:ext cx="3840480" cy="530352"/>
          </a:xfrm>
          <a:prstGeom prst="rect">
            <a:avLst/>
          </a:prstGeom>
          <a:solidFill>
            <a:srgbClr val="08265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48072" y="1664208"/>
            <a:ext cx="378561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Shortest path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" y="2176272"/>
            <a:ext cx="2011680" cy="530352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1832" y="2194560"/>
            <a:ext cx="195681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300" b="1" i="0">
                <a:solidFill>
                  <a:srgbClr val="232D3C"/>
                </a:solidFill>
                <a:latin typeface="Aptos"/>
              </a:rPr>
              <a:t>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26080" y="2176272"/>
            <a:ext cx="2194560" cy="530352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53512" y="2194560"/>
            <a:ext cx="213969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0" i="0">
                <a:solidFill>
                  <a:srgbClr val="232D3C"/>
                </a:solidFill>
                <a:latin typeface="Aptos"/>
              </a:rPr>
              <a:t>2 km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120640" y="2176272"/>
            <a:ext cx="3840480" cy="530352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148072" y="2194560"/>
            <a:ext cx="378561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0" i="0">
                <a:solidFill>
                  <a:srgbClr val="232D3C"/>
                </a:solidFill>
                <a:latin typeface="Aptos"/>
              </a:rPr>
              <a:t>A → 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0" y="2706624"/>
            <a:ext cx="20116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1832" y="2724912"/>
            <a:ext cx="195681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300" b="1" i="0">
                <a:solidFill>
                  <a:srgbClr val="232D3C"/>
                </a:solidFill>
                <a:latin typeface="Aptos"/>
              </a:rPr>
              <a:t>B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26080" y="2706624"/>
            <a:ext cx="21945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53512" y="2724912"/>
            <a:ext cx="213969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0" i="0">
                <a:solidFill>
                  <a:srgbClr val="232D3C"/>
                </a:solidFill>
                <a:latin typeface="Aptos"/>
              </a:rPr>
              <a:t>3 km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20640" y="2706624"/>
            <a:ext cx="3840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148072" y="2724912"/>
            <a:ext cx="378561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0" i="0">
                <a:solidFill>
                  <a:srgbClr val="232D3C"/>
                </a:solidFill>
                <a:latin typeface="Aptos"/>
              </a:rPr>
              <a:t>A → C → 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" y="3236976"/>
            <a:ext cx="2011680" cy="530352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1832" y="3255264"/>
            <a:ext cx="195681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300" b="1" i="0">
                <a:solidFill>
                  <a:srgbClr val="232D3C"/>
                </a:solidFill>
                <a:latin typeface="Aptos"/>
              </a:rPr>
              <a:t>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26080" y="3236976"/>
            <a:ext cx="2194560" cy="530352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53512" y="3255264"/>
            <a:ext cx="213969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0" i="0">
                <a:solidFill>
                  <a:srgbClr val="232D3C"/>
                </a:solidFill>
                <a:latin typeface="Aptos"/>
              </a:rPr>
              <a:t>8 km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120640" y="3236976"/>
            <a:ext cx="3840480" cy="530352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148072" y="3255264"/>
            <a:ext cx="378561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0" i="0">
                <a:solidFill>
                  <a:srgbClr val="232D3C"/>
                </a:solidFill>
                <a:latin typeface="Aptos"/>
              </a:rPr>
              <a:t>A → C → B → 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4400" y="3767328"/>
            <a:ext cx="20116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41832" y="3785615"/>
            <a:ext cx="195681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300" b="1" i="0">
                <a:solidFill>
                  <a:srgbClr val="232D3C"/>
                </a:solidFill>
                <a:latin typeface="Aptos"/>
              </a:rPr>
              <a:t>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926080" y="3767328"/>
            <a:ext cx="21945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53512" y="3785615"/>
            <a:ext cx="213969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0" i="0">
                <a:solidFill>
                  <a:srgbClr val="232D3C"/>
                </a:solidFill>
                <a:latin typeface="Aptos"/>
              </a:rPr>
              <a:t>10 km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120640" y="3767328"/>
            <a:ext cx="384048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148072" y="3785615"/>
            <a:ext cx="378561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0" i="0">
                <a:solidFill>
                  <a:srgbClr val="232D3C"/>
                </a:solidFill>
                <a:latin typeface="Aptos"/>
              </a:rPr>
              <a:t>A → C → B → D → 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14400" y="4709160"/>
            <a:ext cx="10241280" cy="685800"/>
          </a:xfrm>
          <a:prstGeom prst="roundRect">
            <a:avLst/>
          </a:prstGeom>
          <a:solidFill>
            <a:srgbClr val="EBF3FC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97280" y="4873752"/>
            <a:ext cx="9875520" cy="32004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500" b="1" i="0">
                <a:solidFill>
                  <a:srgbClr val="08265C"/>
                </a:solidFill>
                <a:latin typeface="Aptos"/>
              </a:rPr>
              <a:t>Shortest sample route: A → C → B → D → E, total cost = 10 km.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325880" y="201168"/>
            <a:ext cx="9509760" cy="53035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2500" b="1" i="0">
                <a:solidFill>
                  <a:srgbClr val="08265C"/>
                </a:solidFill>
                <a:latin typeface="Georgia"/>
              </a:rPr>
              <a:t>Question 3: Stack ADT for Browser History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749808"/>
            <a:ext cx="9418320" cy="29260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0" i="1">
                <a:solidFill>
                  <a:srgbClr val="2C69B0"/>
                </a:solidFill>
                <a:latin typeface="Georgia"/>
              </a:rPr>
              <a:t>LIFO — Last In, First Out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1143000"/>
            <a:ext cx="11064240" cy="0"/>
          </a:xfrm>
          <a:prstGeom prst="line">
            <a:avLst/>
          </a:prstGeom>
          <a:ln w="16510">
            <a:solidFill>
              <a:srgbClr val="2C69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6382512"/>
            <a:ext cx="9875520" cy="20116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800" b="0" i="0">
                <a:solidFill>
                  <a:srgbClr val="5A6473"/>
                </a:solidFill>
                <a:latin typeface="Aptos"/>
              </a:rPr>
              <a:t>CSA0308 · DATA STRUCTURES · CH. BHARATH KUMAR REDDY · 192411185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364224"/>
            <a:ext cx="502920" cy="22860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r"/>
            <a:r>
              <a:rPr sz="900" b="0" i="0">
                <a:solidFill>
                  <a:srgbClr val="5A6473"/>
                </a:solidFill>
                <a:latin typeface="Aptos"/>
              </a:rPr>
              <a:t>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1508760"/>
            <a:ext cx="4572000" cy="777240"/>
          </a:xfrm>
          <a:prstGeom prst="roundRect">
            <a:avLst/>
          </a:prstGeom>
          <a:solidFill>
            <a:srgbClr val="EBF3FC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1664208"/>
            <a:ext cx="4114800" cy="45720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500" b="0" i="0">
                <a:solidFill>
                  <a:srgbClr val="232D3C"/>
                </a:solidFill>
                <a:latin typeface="Aptos"/>
              </a:rPr>
              <a:t>Back returns to the most recently visited page.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2560320"/>
            <a:ext cx="3931920" cy="29260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600" b="1" i="0">
                <a:solidFill>
                  <a:srgbClr val="08265C"/>
                </a:solidFill>
                <a:latin typeface="Aptos"/>
              </a:rPr>
              <a:t>Browser history stack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43000" y="3017520"/>
            <a:ext cx="3474720" cy="438912"/>
          </a:xfrm>
          <a:prstGeom prst="roundRect">
            <a:avLst/>
          </a:prstGeom>
          <a:solidFill>
            <a:srgbClr val="E86823"/>
          </a:solidFill>
          <a:ln>
            <a:solidFill>
              <a:srgbClr val="E86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34440" y="3099816"/>
            <a:ext cx="3291840" cy="22860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Page C · current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3611879"/>
            <a:ext cx="3474720" cy="438912"/>
          </a:xfrm>
          <a:prstGeom prst="roundRect">
            <a:avLst/>
          </a:prstGeom>
          <a:solidFill>
            <a:srgbClr val="2C69B0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4440" y="3694176"/>
            <a:ext cx="3291840" cy="22860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Page 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4206240"/>
            <a:ext cx="3474720" cy="438912"/>
          </a:xfrm>
          <a:prstGeom prst="roundRect">
            <a:avLst/>
          </a:prstGeom>
          <a:solidFill>
            <a:srgbClr val="A0B9D7"/>
          </a:solidFill>
          <a:ln>
            <a:solidFill>
              <a:srgbClr val="A0B9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4440" y="4288536"/>
            <a:ext cx="3291840" cy="22860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1" i="0">
                <a:solidFill>
                  <a:srgbClr val="08265C"/>
                </a:solidFill>
                <a:latin typeface="Aptos"/>
              </a:rPr>
              <a:t>Page 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1645920"/>
            <a:ext cx="1828800" cy="502920"/>
          </a:xfrm>
          <a:prstGeom prst="rect">
            <a:avLst/>
          </a:prstGeom>
          <a:solidFill>
            <a:srgbClr val="08265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71032" y="1664208"/>
            <a:ext cx="177393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Operation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0" y="1645920"/>
            <a:ext cx="2560320" cy="502920"/>
          </a:xfrm>
          <a:prstGeom prst="rect">
            <a:avLst/>
          </a:prstGeom>
          <a:solidFill>
            <a:srgbClr val="08265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99831" y="1664208"/>
            <a:ext cx="250545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32720" y="1645920"/>
            <a:ext cx="1005840" cy="502920"/>
          </a:xfrm>
          <a:prstGeom prst="rect">
            <a:avLst/>
          </a:prstGeom>
          <a:solidFill>
            <a:srgbClr val="08265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60152" y="1664208"/>
            <a:ext cx="95097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Time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0" y="2148840"/>
            <a:ext cx="1828800" cy="502920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71032" y="2167128"/>
            <a:ext cx="177393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200" b="1" i="0">
                <a:solidFill>
                  <a:srgbClr val="232D3C"/>
                </a:solidFill>
                <a:latin typeface="Aptos"/>
              </a:rPr>
              <a:t>push(page)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0" y="2148840"/>
            <a:ext cx="2560320" cy="502920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99831" y="2167128"/>
            <a:ext cx="250545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Visit page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332720" y="2148840"/>
            <a:ext cx="1005840" cy="502920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360152" y="2167128"/>
            <a:ext cx="95097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O(1)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0" y="265176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71032" y="2670048"/>
            <a:ext cx="177393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200" b="1" i="0">
                <a:solidFill>
                  <a:srgbClr val="232D3C"/>
                </a:solidFill>
                <a:latin typeface="Aptos"/>
              </a:rPr>
              <a:t>pop()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0" y="2651760"/>
            <a:ext cx="2560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99831" y="2670048"/>
            <a:ext cx="250545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Go Back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332720" y="2651760"/>
            <a:ext cx="10058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360152" y="2670048"/>
            <a:ext cx="95097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O(1)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0" y="3154680"/>
            <a:ext cx="1828800" cy="502920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71032" y="3172968"/>
            <a:ext cx="177393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200" b="1" i="0">
                <a:solidFill>
                  <a:srgbClr val="232D3C"/>
                </a:solidFill>
                <a:latin typeface="Aptos"/>
              </a:rPr>
              <a:t>peek()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72400" y="3154680"/>
            <a:ext cx="2560320" cy="502920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99831" y="3172968"/>
            <a:ext cx="250545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Current page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332720" y="3154680"/>
            <a:ext cx="1005840" cy="502920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60152" y="3172968"/>
            <a:ext cx="95097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O(1)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0" y="3657600"/>
            <a:ext cx="18288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71032" y="3675887"/>
            <a:ext cx="177393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200" b="1" i="0">
                <a:solidFill>
                  <a:srgbClr val="232D3C"/>
                </a:solidFill>
                <a:latin typeface="Aptos"/>
              </a:rPr>
              <a:t>isEmpty()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72400" y="3657600"/>
            <a:ext cx="25603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799831" y="3675887"/>
            <a:ext cx="250545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Check history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332720" y="3657600"/>
            <a:ext cx="10058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360152" y="3675887"/>
            <a:ext cx="950976" cy="466344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O(1)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26480" y="4572000"/>
            <a:ext cx="4572000" cy="50292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400" b="0" i="0">
                <a:solidFill>
                  <a:srgbClr val="232D3C"/>
                </a:solidFill>
                <a:latin typeface="Aptos"/>
              </a:rPr>
              <a:t>A stack can be implemented using an array or linked list.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325880" y="201168"/>
            <a:ext cx="9509760" cy="53035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2500" b="1" i="0">
                <a:solidFill>
                  <a:srgbClr val="08265C"/>
                </a:solidFill>
                <a:latin typeface="Georgia"/>
              </a:rPr>
              <a:t>How Back and Forward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749808"/>
            <a:ext cx="9418320" cy="29260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0" i="1">
                <a:solidFill>
                  <a:srgbClr val="2C69B0"/>
                </a:solidFill>
                <a:latin typeface="Georgia"/>
              </a:rPr>
              <a:t>Two stacks support both directions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143000"/>
            <a:ext cx="11064240" cy="0"/>
          </a:xfrm>
          <a:prstGeom prst="line">
            <a:avLst/>
          </a:prstGeom>
          <a:ln w="16510">
            <a:solidFill>
              <a:srgbClr val="2C69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382512"/>
            <a:ext cx="9875520" cy="20116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800" b="0" i="0">
                <a:solidFill>
                  <a:srgbClr val="5A6473"/>
                </a:solidFill>
                <a:latin typeface="Aptos"/>
              </a:rPr>
              <a:t>CSA0308 · DATA STRUCTURES · CH. BHARATH KUMAR REDDY · 192411185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64224"/>
            <a:ext cx="502920" cy="22860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r"/>
            <a:r>
              <a:rPr sz="900" b="0" i="0">
                <a:solidFill>
                  <a:srgbClr val="5A6473"/>
                </a:solidFill>
                <a:latin typeface="Aptos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508760"/>
            <a:ext cx="3474720" cy="3566160"/>
          </a:xfrm>
          <a:prstGeom prst="roundRect">
            <a:avLst/>
          </a:prstGeom>
          <a:solidFill>
            <a:srgbClr val="EBF3FC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91640"/>
            <a:ext cx="3200400" cy="27432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600" b="1" i="0">
                <a:solidFill>
                  <a:srgbClr val="08265C"/>
                </a:solidFill>
                <a:latin typeface="Aptos"/>
              </a:rPr>
              <a:t>Visit A, B, 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2194560"/>
            <a:ext cx="2286000" cy="365760"/>
          </a:xfrm>
          <a:prstGeom prst="roundRect">
            <a:avLst/>
          </a:prstGeom>
          <a:solidFill>
            <a:srgbClr val="E86823"/>
          </a:solidFill>
          <a:ln>
            <a:solidFill>
              <a:srgbClr val="E86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258568"/>
            <a:ext cx="2103120" cy="219456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C · top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2697480"/>
            <a:ext cx="2286000" cy="365760"/>
          </a:xfrm>
          <a:prstGeom prst="roundRect">
            <a:avLst/>
          </a:prstGeom>
          <a:solidFill>
            <a:srgbClr val="2C69B0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2761488"/>
            <a:ext cx="2103120" cy="219456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200400"/>
            <a:ext cx="2286000" cy="365760"/>
          </a:xfrm>
          <a:prstGeom prst="roundRect">
            <a:avLst/>
          </a:prstGeom>
          <a:solidFill>
            <a:srgbClr val="2C69B0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3264408"/>
            <a:ext cx="2103120" cy="219456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69080"/>
            <a:ext cx="3017520" cy="59436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Push each page onto Back history.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1508760"/>
            <a:ext cx="3474720" cy="3566160"/>
          </a:xfrm>
          <a:prstGeom prst="roundRect">
            <a:avLst/>
          </a:prstGeom>
          <a:solidFill>
            <a:srgbClr val="EBF3FC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1691640"/>
            <a:ext cx="3200400" cy="27432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600" b="1" i="0">
                <a:solidFill>
                  <a:srgbClr val="08265C"/>
                </a:solidFill>
                <a:latin typeface="Aptos"/>
              </a:rPr>
              <a:t>Click 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2194560"/>
            <a:ext cx="2286000" cy="365760"/>
          </a:xfrm>
          <a:prstGeom prst="roundRect">
            <a:avLst/>
          </a:prstGeom>
          <a:solidFill>
            <a:srgbClr val="E86823"/>
          </a:solidFill>
          <a:ln>
            <a:solidFill>
              <a:srgbClr val="E86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2258568"/>
            <a:ext cx="2103120" cy="219456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B · top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74920" y="2697480"/>
            <a:ext cx="2286000" cy="365760"/>
          </a:xfrm>
          <a:prstGeom prst="roundRect">
            <a:avLst/>
          </a:prstGeom>
          <a:solidFill>
            <a:srgbClr val="2C69B0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6360" y="2761488"/>
            <a:ext cx="2103120" cy="219456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069080"/>
            <a:ext cx="3017520" cy="59436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Pop C and move it to Forward history.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1508760"/>
            <a:ext cx="3474720" cy="3566160"/>
          </a:xfrm>
          <a:prstGeom prst="roundRect">
            <a:avLst/>
          </a:prstGeom>
          <a:solidFill>
            <a:srgbClr val="EBF3FC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1691640"/>
            <a:ext cx="3200400" cy="27432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600" b="1" i="0">
                <a:solidFill>
                  <a:srgbClr val="08265C"/>
                </a:solidFill>
                <a:latin typeface="Aptos"/>
              </a:rPr>
              <a:t>Click Forward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2194560"/>
            <a:ext cx="2286000" cy="365760"/>
          </a:xfrm>
          <a:prstGeom prst="roundRect">
            <a:avLst/>
          </a:prstGeom>
          <a:solidFill>
            <a:srgbClr val="E86823"/>
          </a:solidFill>
          <a:ln>
            <a:solidFill>
              <a:srgbClr val="E86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2258568"/>
            <a:ext cx="2103120" cy="219456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C · top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2697480"/>
            <a:ext cx="2286000" cy="365760"/>
          </a:xfrm>
          <a:prstGeom prst="roundRect">
            <a:avLst/>
          </a:prstGeom>
          <a:solidFill>
            <a:srgbClr val="2C69B0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2761488"/>
            <a:ext cx="2103120" cy="219456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20" y="3200400"/>
            <a:ext cx="2286000" cy="365760"/>
          </a:xfrm>
          <a:prstGeom prst="roundRect">
            <a:avLst/>
          </a:prstGeom>
          <a:solidFill>
            <a:srgbClr val="2C69B0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52560" y="3264408"/>
            <a:ext cx="2103120" cy="219456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4069080"/>
            <a:ext cx="3017520" cy="59436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Restore C from Forward history.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394960"/>
            <a:ext cx="10058400" cy="32004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400" b="1" i="0">
                <a:solidFill>
                  <a:srgbClr val="008787"/>
                </a:solidFill>
                <a:latin typeface="Aptos"/>
              </a:rPr>
              <a:t>Push/pop are O(1); storing n visited pages requires O(n) space.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325880" y="201168"/>
            <a:ext cx="9509760" cy="53035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2500" b="1" i="0">
                <a:solidFill>
                  <a:srgbClr val="08265C"/>
                </a:solidFill>
                <a:latin typeface="Georgia"/>
              </a:rPr>
              <a:t>Stack Performance Efficiency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749808"/>
            <a:ext cx="9418320" cy="29260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0" i="1">
                <a:solidFill>
                  <a:srgbClr val="2C69B0"/>
                </a:solidFill>
                <a:latin typeface="Georgia"/>
              </a:rPr>
              <a:t>Why stack matches browser Back navigation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1143000"/>
            <a:ext cx="11064240" cy="0"/>
          </a:xfrm>
          <a:prstGeom prst="line">
            <a:avLst/>
          </a:prstGeom>
          <a:ln w="16510">
            <a:solidFill>
              <a:srgbClr val="2C69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6382512"/>
            <a:ext cx="9875520" cy="20116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800" b="0" i="0">
                <a:solidFill>
                  <a:srgbClr val="5A6473"/>
                </a:solidFill>
                <a:latin typeface="Aptos"/>
              </a:rPr>
              <a:t>CSA0308 · DATA STRUCTURES · CH. BHARATH KUMAR REDDY · 192411185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364224"/>
            <a:ext cx="502920" cy="22860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r"/>
            <a:r>
              <a:rPr sz="900" b="0" i="0">
                <a:solidFill>
                  <a:srgbClr val="5A6473"/>
                </a:solidFill>
                <a:latin typeface="Aptos"/>
              </a:rPr>
              <a:t>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1554480"/>
            <a:ext cx="2103120" cy="530352"/>
          </a:xfrm>
          <a:prstGeom prst="rect">
            <a:avLst/>
          </a:prstGeom>
          <a:solidFill>
            <a:srgbClr val="08265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1572768"/>
            <a:ext cx="2048255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Operation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39" y="1554480"/>
            <a:ext cx="1645920" cy="530352"/>
          </a:xfrm>
          <a:prstGeom prst="rect">
            <a:avLst/>
          </a:prstGeom>
          <a:solidFill>
            <a:srgbClr val="08265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62071" y="1572768"/>
            <a:ext cx="159105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Stack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59" y="1554480"/>
            <a:ext cx="2103120" cy="530352"/>
          </a:xfrm>
          <a:prstGeom prst="rect">
            <a:avLst/>
          </a:prstGeom>
          <a:solidFill>
            <a:srgbClr val="08265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07992" y="1572768"/>
            <a:ext cx="2048255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Array front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79" y="1554480"/>
            <a:ext cx="1828800" cy="530352"/>
          </a:xfrm>
          <a:prstGeom prst="rect">
            <a:avLst/>
          </a:prstGeom>
          <a:solidFill>
            <a:srgbClr val="08265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11112" y="1572768"/>
            <a:ext cx="177393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Queue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2084831"/>
            <a:ext cx="2103120" cy="530352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952" y="2103120"/>
            <a:ext cx="2048255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200" b="1" i="0">
                <a:solidFill>
                  <a:srgbClr val="232D3C"/>
                </a:solidFill>
                <a:latin typeface="Aptos"/>
              </a:rPr>
              <a:t>Visit page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34639" y="2084831"/>
            <a:ext cx="1645920" cy="530352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62071" y="2103120"/>
            <a:ext cx="159105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O(1)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0559" y="2084831"/>
            <a:ext cx="2103120" cy="530352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07992" y="2103120"/>
            <a:ext cx="2048255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O(n)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79" y="2084831"/>
            <a:ext cx="1828800" cy="530352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11112" y="2103120"/>
            <a:ext cx="177393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O(1)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2615184"/>
            <a:ext cx="21031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8952" y="2633472"/>
            <a:ext cx="2048255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200" b="1" i="0">
                <a:solidFill>
                  <a:srgbClr val="232D3C"/>
                </a:solidFill>
                <a:latin typeface="Aptos"/>
              </a:rPr>
              <a:t>Go back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34639" y="2615184"/>
            <a:ext cx="16459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62071" y="2633472"/>
            <a:ext cx="159105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O(1)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80559" y="2615184"/>
            <a:ext cx="21031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07992" y="2633472"/>
            <a:ext cx="2048255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O(n)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79" y="2615184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11112" y="2633472"/>
            <a:ext cx="177393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FIFO mismatch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3145535"/>
            <a:ext cx="2103120" cy="530352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8952" y="3163823"/>
            <a:ext cx="2048255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200" b="1" i="0">
                <a:solidFill>
                  <a:srgbClr val="232D3C"/>
                </a:solidFill>
                <a:latin typeface="Aptos"/>
              </a:rPr>
              <a:t>Order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834639" y="3145535"/>
            <a:ext cx="1645920" cy="530352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862071" y="3163823"/>
            <a:ext cx="159105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LIFO 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80559" y="3145535"/>
            <a:ext cx="2103120" cy="530352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07992" y="3163823"/>
            <a:ext cx="2048255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Possible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83679" y="3145535"/>
            <a:ext cx="1828800" cy="530352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11112" y="3163823"/>
            <a:ext cx="177393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FIFO ✗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1520" y="3675887"/>
            <a:ext cx="21031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58952" y="3694175"/>
            <a:ext cx="2048255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200" b="1" i="0">
                <a:solidFill>
                  <a:srgbClr val="232D3C"/>
                </a:solidFill>
                <a:latin typeface="Aptos"/>
              </a:rPr>
              <a:t>Memory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834639" y="3675887"/>
            <a:ext cx="16459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862071" y="3694175"/>
            <a:ext cx="159105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O(n)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80559" y="3675887"/>
            <a:ext cx="21031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07992" y="3694175"/>
            <a:ext cx="2048255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O(n)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79" y="3675887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11112" y="3694175"/>
            <a:ext cx="177393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O(n)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14400" y="4572000"/>
            <a:ext cx="10241280" cy="685800"/>
          </a:xfrm>
          <a:prstGeom prst="roundRect">
            <a:avLst/>
          </a:prstGeom>
          <a:solidFill>
            <a:srgbClr val="EBF3FC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97280" y="4736592"/>
            <a:ext cx="9875520" cy="32004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500" b="1" i="0">
                <a:solidFill>
                  <a:srgbClr val="08265C"/>
                </a:solidFill>
                <a:latin typeface="Aptos"/>
              </a:rPr>
              <a:t>Only the top element changes, so no searching or shifting is needed.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325880" y="201168"/>
            <a:ext cx="9509760" cy="53035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2500" b="1" i="0">
                <a:solidFill>
                  <a:srgbClr val="08265C"/>
                </a:solidFill>
                <a:latin typeface="Georgia"/>
              </a:rPr>
              <a:t>Question 4: Searching 50,000 ISBN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749808"/>
            <a:ext cx="9418320" cy="29260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0" i="1">
                <a:solidFill>
                  <a:srgbClr val="2C69B0"/>
                </a:solidFill>
                <a:latin typeface="Georgia"/>
              </a:rPr>
              <a:t>Fast exact-match lookup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143000"/>
            <a:ext cx="11064240" cy="0"/>
          </a:xfrm>
          <a:prstGeom prst="line">
            <a:avLst/>
          </a:prstGeom>
          <a:ln w="16510">
            <a:solidFill>
              <a:srgbClr val="2C69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382512"/>
            <a:ext cx="9875520" cy="20116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800" b="0" i="0">
                <a:solidFill>
                  <a:srgbClr val="5A6473"/>
                </a:solidFill>
                <a:latin typeface="Aptos"/>
              </a:rPr>
              <a:t>CSA0308 · DATA STRUCTURES · CH. BHARATH KUMAR REDDY · 192411185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64224"/>
            <a:ext cx="502920" cy="22860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r"/>
            <a:r>
              <a:rPr sz="900" b="0" i="0">
                <a:solidFill>
                  <a:srgbClr val="5A6473"/>
                </a:solidFill>
                <a:latin typeface="Aptos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2560320" cy="2880360"/>
          </a:xfrm>
          <a:prstGeom prst="roundRect">
            <a:avLst/>
          </a:prstGeom>
          <a:solidFill>
            <a:srgbClr val="EBF3FC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1920240"/>
            <a:ext cx="411480" cy="411480"/>
          </a:xfrm>
          <a:prstGeom prst="ellipse">
            <a:avLst/>
          </a:prstGeom>
          <a:solidFill>
            <a:srgbClr val="E86823"/>
          </a:solidFill>
          <a:ln>
            <a:solidFill>
              <a:srgbClr val="E86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14600"/>
            <a:ext cx="2194560" cy="34747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600" b="1" i="0">
                <a:solidFill>
                  <a:srgbClr val="08265C"/>
                </a:solidFill>
                <a:latin typeface="Aptos"/>
              </a:rPr>
              <a:t>Linear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63240"/>
            <a:ext cx="2194560" cy="32004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500" b="1" i="0">
                <a:solidFill>
                  <a:srgbClr val="E86823"/>
                </a:solidFill>
                <a:latin typeface="Aptos"/>
              </a:rPr>
              <a:t>O(n)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2103120" cy="54864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Checks records one by 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1691640"/>
            <a:ext cx="2560320" cy="2880360"/>
          </a:xfrm>
          <a:prstGeom prst="roundRect">
            <a:avLst/>
          </a:prstGeom>
          <a:solidFill>
            <a:srgbClr val="EBF3FC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39312" y="1920240"/>
            <a:ext cx="411480" cy="411480"/>
          </a:xfrm>
          <a:prstGeom prst="ellipse">
            <a:avLst/>
          </a:prstGeom>
          <a:solidFill>
            <a:srgbClr val="2C69B0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514600"/>
            <a:ext cx="2194560" cy="34747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600" b="1" i="0">
                <a:solidFill>
                  <a:srgbClr val="08265C"/>
                </a:solidFill>
                <a:latin typeface="Aptos"/>
              </a:rPr>
              <a:t>Sorted array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063240"/>
            <a:ext cx="2194560" cy="32004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500" b="1" i="0">
                <a:solidFill>
                  <a:srgbClr val="2C69B0"/>
                </a:solidFill>
                <a:latin typeface="Aptos"/>
              </a:rPr>
              <a:t>O(log 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657600"/>
            <a:ext cx="2103120" cy="54864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Binary search halves the range.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691640"/>
            <a:ext cx="2560320" cy="2880360"/>
          </a:xfrm>
          <a:prstGeom prst="roundRect">
            <a:avLst/>
          </a:prstGeom>
          <a:solidFill>
            <a:srgbClr val="EBF3FC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19672" y="1920240"/>
            <a:ext cx="411480" cy="411480"/>
          </a:xfrm>
          <a:prstGeom prst="ellipse">
            <a:avLst/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514600"/>
            <a:ext cx="2194560" cy="34747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600" b="1" i="0">
                <a:solidFill>
                  <a:srgbClr val="08265C"/>
                </a:solidFill>
                <a:latin typeface="Aptos"/>
              </a:rPr>
              <a:t>Balanced BST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063240"/>
            <a:ext cx="2194560" cy="32004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500" b="1" i="0">
                <a:solidFill>
                  <a:srgbClr val="008787"/>
                </a:solidFill>
                <a:latin typeface="Aptos"/>
              </a:rPr>
              <a:t>O(log 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657600"/>
            <a:ext cx="2103120" cy="54864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Compares keys at each level.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1691640"/>
            <a:ext cx="2560320" cy="2880360"/>
          </a:xfrm>
          <a:prstGeom prst="roundRect">
            <a:avLst/>
          </a:prstGeom>
          <a:solidFill>
            <a:srgbClr val="EBF3FC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00032" y="1920240"/>
            <a:ext cx="411480" cy="411480"/>
          </a:xfrm>
          <a:prstGeom prst="ellipse">
            <a:avLst/>
          </a:prstGeom>
          <a:solidFill>
            <a:srgbClr val="08265C"/>
          </a:solidFill>
          <a:ln>
            <a:solidFill>
              <a:srgbClr val="082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19" y="2514600"/>
            <a:ext cx="2194560" cy="34747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600" b="1" i="0">
                <a:solidFill>
                  <a:srgbClr val="08265C"/>
                </a:solidFill>
                <a:latin typeface="Aptos"/>
              </a:rPr>
              <a:t>Hash 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19" y="3063240"/>
            <a:ext cx="2194560" cy="32004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500" b="1" i="0">
                <a:solidFill>
                  <a:srgbClr val="08265C"/>
                </a:solidFill>
                <a:latin typeface="Aptos"/>
              </a:rPr>
              <a:t>O(1) avg.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3657600"/>
            <a:ext cx="2103120" cy="54864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Maps ISBN to a bucket.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074920"/>
            <a:ext cx="10424160" cy="594360"/>
          </a:xfrm>
          <a:prstGeom prst="roundRect">
            <a:avLst/>
          </a:prstGeom>
          <a:solidFill>
            <a:srgbClr val="08265C"/>
          </a:solidFill>
          <a:ln>
            <a:solidFill>
              <a:srgbClr val="082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212080"/>
            <a:ext cx="10058400" cy="27432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Recommendation: hash table for frequent ISBN exact-match searches.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325880" y="201168"/>
            <a:ext cx="9509760" cy="53035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2500" b="1" i="0">
                <a:solidFill>
                  <a:srgbClr val="08265C"/>
                </a:solidFill>
                <a:latin typeface="Georgia"/>
              </a:rPr>
              <a:t>Time Complexity Comparison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749808"/>
            <a:ext cx="9418320" cy="29260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0" i="1">
                <a:solidFill>
                  <a:srgbClr val="2C69B0"/>
                </a:solidFill>
                <a:latin typeface="Georgia"/>
              </a:rPr>
              <a:t>Approximate comparisons for 50,000 records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1143000"/>
            <a:ext cx="11064240" cy="0"/>
          </a:xfrm>
          <a:prstGeom prst="line">
            <a:avLst/>
          </a:prstGeom>
          <a:ln w="16510">
            <a:solidFill>
              <a:srgbClr val="2C69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6382512"/>
            <a:ext cx="9875520" cy="20116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800" b="0" i="0">
                <a:solidFill>
                  <a:srgbClr val="5A6473"/>
                </a:solidFill>
                <a:latin typeface="Aptos"/>
              </a:rPr>
              <a:t>CSA0308 · DATA STRUCTURES · CH. BHARATH KUMAR REDDY · 192411185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364224"/>
            <a:ext cx="502920" cy="22860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r"/>
            <a:r>
              <a:rPr sz="900" b="0" i="0">
                <a:solidFill>
                  <a:srgbClr val="5A6473"/>
                </a:solidFill>
                <a:latin typeface="Aptos"/>
              </a:rPr>
              <a:t>14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1508760"/>
            <a:ext cx="2286000" cy="530352"/>
          </a:xfrm>
          <a:prstGeom prst="rect">
            <a:avLst/>
          </a:prstGeom>
          <a:solidFill>
            <a:srgbClr val="08265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1527048"/>
            <a:ext cx="223113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Structure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1508760"/>
            <a:ext cx="1645920" cy="530352"/>
          </a:xfrm>
          <a:prstGeom prst="rect">
            <a:avLst/>
          </a:prstGeom>
          <a:solidFill>
            <a:srgbClr val="08265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44951" y="1527048"/>
            <a:ext cx="159105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Average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1508760"/>
            <a:ext cx="1645920" cy="530352"/>
          </a:xfrm>
          <a:prstGeom prst="rect">
            <a:avLst/>
          </a:prstGeom>
          <a:solidFill>
            <a:srgbClr val="08265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90872" y="1527048"/>
            <a:ext cx="159105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Worst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59" y="1508760"/>
            <a:ext cx="2560320" cy="530352"/>
          </a:xfrm>
          <a:prstGeom prst="rect">
            <a:avLst/>
          </a:prstGeom>
          <a:solidFill>
            <a:srgbClr val="08265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36792" y="1527048"/>
            <a:ext cx="250545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Comparisons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2039112"/>
            <a:ext cx="2286000" cy="530352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952" y="2057400"/>
            <a:ext cx="223113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200" b="1" i="0">
                <a:solidFill>
                  <a:srgbClr val="232D3C"/>
                </a:solidFill>
                <a:latin typeface="Aptos"/>
              </a:rPr>
              <a:t>Linear search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2039112"/>
            <a:ext cx="1645920" cy="530352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44951" y="2057400"/>
            <a:ext cx="159105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O(n)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63440" y="2039112"/>
            <a:ext cx="1645920" cy="530352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90872" y="2057400"/>
            <a:ext cx="159105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O(n)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59" y="2039112"/>
            <a:ext cx="2560320" cy="530352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6792" y="2057400"/>
            <a:ext cx="250545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Up to 50,000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2569463"/>
            <a:ext cx="22860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8952" y="2587751"/>
            <a:ext cx="223113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200" b="1" i="0">
                <a:solidFill>
                  <a:srgbClr val="232D3C"/>
                </a:solidFill>
                <a:latin typeface="Aptos"/>
              </a:rPr>
              <a:t>Binary search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17520" y="2569463"/>
            <a:ext cx="16459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44951" y="2587751"/>
            <a:ext cx="159105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O(log n)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63440" y="2569463"/>
            <a:ext cx="16459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90872" y="2587751"/>
            <a:ext cx="159105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O(log n)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59" y="2569463"/>
            <a:ext cx="25603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36792" y="2587751"/>
            <a:ext cx="250545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About 16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3099815"/>
            <a:ext cx="2286000" cy="530352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8952" y="3118103"/>
            <a:ext cx="223113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200" b="1" i="0">
                <a:solidFill>
                  <a:srgbClr val="232D3C"/>
                </a:solidFill>
                <a:latin typeface="Aptos"/>
              </a:rPr>
              <a:t>Balanced BST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17520" y="3099815"/>
            <a:ext cx="1645920" cy="530352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44951" y="3118103"/>
            <a:ext cx="159105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O(log n)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663440" y="3099815"/>
            <a:ext cx="1645920" cy="530352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690872" y="3118103"/>
            <a:ext cx="159105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O(log n)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59" y="3099815"/>
            <a:ext cx="2560320" cy="530352"/>
          </a:xfrm>
          <a:prstGeom prst="rect">
            <a:avLst/>
          </a:prstGeom>
          <a:solidFill>
            <a:srgbClr val="EBF3FC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36792" y="3118103"/>
            <a:ext cx="250545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About 16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1520" y="3630168"/>
            <a:ext cx="22860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58952" y="3648456"/>
            <a:ext cx="223113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200" b="1" i="0">
                <a:solidFill>
                  <a:srgbClr val="232D3C"/>
                </a:solidFill>
                <a:latin typeface="Aptos"/>
              </a:rPr>
              <a:t>Hash table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017520" y="3630168"/>
            <a:ext cx="16459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044951" y="3648456"/>
            <a:ext cx="159105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O(1)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663440" y="3630168"/>
            <a:ext cx="16459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690872" y="3648456"/>
            <a:ext cx="159105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O(n)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09359" y="3630168"/>
            <a:ext cx="2560320" cy="530352"/>
          </a:xfrm>
          <a:prstGeom prst="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36792" y="3648456"/>
            <a:ext cx="2505456" cy="493775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200" b="0" i="0">
                <a:solidFill>
                  <a:srgbClr val="232D3C"/>
                </a:solidFill>
                <a:latin typeface="Aptos"/>
              </a:rPr>
              <a:t>About 1–2 avg.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14400" y="4709160"/>
            <a:ext cx="10241280" cy="685800"/>
          </a:xfrm>
          <a:prstGeom prst="roundRect">
            <a:avLst/>
          </a:prstGeom>
          <a:solidFill>
            <a:srgbClr val="EBF3FC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97280" y="4864608"/>
            <a:ext cx="9875520" cy="34747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300" b="0" i="0">
                <a:solidFill>
                  <a:srgbClr val="232D3C"/>
                </a:solidFill>
                <a:latin typeface="Aptos"/>
              </a:rPr>
              <a:t>Hash worst case occurs when many keys collide; a good hash function reduces collisions.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82512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325880" y="201168"/>
            <a:ext cx="9509760" cy="53035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2500" b="1" i="0">
                <a:solidFill>
                  <a:srgbClr val="08265C"/>
                </a:solidFill>
                <a:latin typeface="Georgia"/>
              </a:rPr>
              <a:t>Hash Table Design and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749808"/>
            <a:ext cx="9418320" cy="29260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300" b="0" i="1">
                <a:solidFill>
                  <a:srgbClr val="2C69B0"/>
                </a:solidFill>
                <a:latin typeface="Georgia"/>
              </a:rPr>
              <a:t>Right data structure for the right operation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1143000"/>
            <a:ext cx="11064240" cy="0"/>
          </a:xfrm>
          <a:prstGeom prst="line">
            <a:avLst/>
          </a:prstGeom>
          <a:ln w="16510">
            <a:solidFill>
              <a:srgbClr val="2C69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382512"/>
            <a:ext cx="9875520" cy="20116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800" b="0" i="0">
                <a:solidFill>
                  <a:srgbClr val="5A6473"/>
                </a:solidFill>
                <a:latin typeface="Aptos"/>
              </a:rPr>
              <a:t>CSA0308 · DATA STRUCTURES · CH. BHARATH KUMAR REDDY · 192411185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364224"/>
            <a:ext cx="502920" cy="22860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r"/>
            <a:r>
              <a:rPr sz="900" b="0" i="0">
                <a:solidFill>
                  <a:srgbClr val="5A6473"/>
                </a:solidFill>
                <a:latin typeface="Aptos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17320"/>
            <a:ext cx="2240280" cy="822960"/>
          </a:xfrm>
          <a:prstGeom prst="roundRect">
            <a:avLst/>
          </a:prstGeom>
          <a:solidFill>
            <a:srgbClr val="EBF3FC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1554480"/>
            <a:ext cx="2057400" cy="27432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400" b="1" i="0">
                <a:solidFill>
                  <a:srgbClr val="08265C"/>
                </a:solidFill>
                <a:latin typeface="Aptos"/>
              </a:rPr>
              <a:t>ISBN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1874519"/>
            <a:ext cx="2057400" cy="20116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100" b="0" i="0">
                <a:solidFill>
                  <a:srgbClr val="008787"/>
                </a:solidFill>
                <a:latin typeface="Aptos"/>
              </a:rPr>
              <a:t>978…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1691640"/>
            <a:ext cx="365760" cy="27432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700" b="1" i="0">
                <a:solidFill>
                  <a:srgbClr val="E86823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0439" y="1417320"/>
            <a:ext cx="2240280" cy="822960"/>
          </a:xfrm>
          <a:prstGeom prst="roundRect">
            <a:avLst/>
          </a:prstGeom>
          <a:solidFill>
            <a:srgbClr val="EBF3FC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79" y="1554480"/>
            <a:ext cx="2057400" cy="27432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400" b="1" i="0">
                <a:solidFill>
                  <a:srgbClr val="08265C"/>
                </a:solidFill>
                <a:latin typeface="Aptos"/>
              </a:rPr>
              <a:t>Hash function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79" y="1874519"/>
            <a:ext cx="2057400" cy="20116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100" b="0" i="0">
                <a:solidFill>
                  <a:srgbClr val="008787"/>
                </a:solidFill>
                <a:latin typeface="Aptos"/>
              </a:rPr>
              <a:t>h(key)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59" y="1691640"/>
            <a:ext cx="365760" cy="27432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700" b="1" i="0">
                <a:solidFill>
                  <a:srgbClr val="E86823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417320"/>
            <a:ext cx="2240280" cy="822960"/>
          </a:xfrm>
          <a:prstGeom prst="roundRect">
            <a:avLst/>
          </a:prstGeom>
          <a:solidFill>
            <a:srgbClr val="EBF3FC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554480"/>
            <a:ext cx="2057400" cy="27432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400" b="1" i="0">
                <a:solidFill>
                  <a:srgbClr val="08265C"/>
                </a:solidFill>
                <a:latin typeface="Aptos"/>
              </a:rPr>
              <a:t>Bucket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874519"/>
            <a:ext cx="2057400" cy="20116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100" b="0" i="0">
                <a:solidFill>
                  <a:srgbClr val="008787"/>
                </a:solidFill>
                <a:latin typeface="Aptos"/>
              </a:rPr>
              <a:t>index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1691640"/>
            <a:ext cx="365760" cy="27432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700" b="1" i="0">
                <a:solidFill>
                  <a:srgbClr val="E86823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59" y="1417320"/>
            <a:ext cx="2240280" cy="822960"/>
          </a:xfrm>
          <a:prstGeom prst="roundRect">
            <a:avLst/>
          </a:prstGeom>
          <a:solidFill>
            <a:srgbClr val="EBF3FC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599" y="1554480"/>
            <a:ext cx="2057400" cy="27432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400" b="1" i="0">
                <a:solidFill>
                  <a:srgbClr val="08265C"/>
                </a:solidFill>
                <a:latin typeface="Aptos"/>
              </a:rPr>
              <a:t>Book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599" y="1874519"/>
            <a:ext cx="2057400" cy="201168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ctr"/>
            <a:r>
              <a:rPr sz="1100" b="0" i="0">
                <a:solidFill>
                  <a:srgbClr val="008787"/>
                </a:solidFill>
                <a:latin typeface="Aptos"/>
              </a:rPr>
              <a:t>details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2651760"/>
            <a:ext cx="48463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2880360"/>
            <a:ext cx="4389120" cy="32004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700" b="1" i="0">
                <a:solidFill>
                  <a:srgbClr val="08265C"/>
                </a:solidFill>
                <a:latin typeface="Aptos"/>
              </a:rPr>
              <a:t>Hash table design</a:t>
            </a:r>
          </a:p>
        </p:txBody>
      </p:sp>
      <p:sp>
        <p:nvSpPr>
          <p:cNvPr id="27" name="Oval 26"/>
          <p:cNvSpPr/>
          <p:nvPr/>
        </p:nvSpPr>
        <p:spPr>
          <a:xfrm>
            <a:off x="1005840" y="3383280"/>
            <a:ext cx="137160" cy="137160"/>
          </a:xfrm>
          <a:prstGeom prst="ellipse">
            <a:avLst/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3364992"/>
            <a:ext cx="3977639" cy="34747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300" b="0" i="0">
                <a:solidFill>
                  <a:srgbClr val="232D3C"/>
                </a:solidFill>
                <a:latin typeface="Aptos"/>
              </a:rPr>
              <a:t>Choose a suitable hash function.</a:t>
            </a:r>
          </a:p>
        </p:txBody>
      </p:sp>
      <p:sp>
        <p:nvSpPr>
          <p:cNvPr id="29" name="Oval 28"/>
          <p:cNvSpPr/>
          <p:nvPr/>
        </p:nvSpPr>
        <p:spPr>
          <a:xfrm>
            <a:off x="1005840" y="3840480"/>
            <a:ext cx="137160" cy="137160"/>
          </a:xfrm>
          <a:prstGeom prst="ellipse">
            <a:avLst/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3822191"/>
            <a:ext cx="3977639" cy="34747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300" b="0" i="0">
                <a:solidFill>
                  <a:srgbClr val="232D3C"/>
                </a:solidFill>
                <a:latin typeface="Aptos"/>
              </a:rPr>
              <a:t>Handle collisions using chaining.</a:t>
            </a:r>
          </a:p>
        </p:txBody>
      </p:sp>
      <p:sp>
        <p:nvSpPr>
          <p:cNvPr id="31" name="Oval 30"/>
          <p:cNvSpPr/>
          <p:nvPr/>
        </p:nvSpPr>
        <p:spPr>
          <a:xfrm>
            <a:off x="1005840" y="4297680"/>
            <a:ext cx="137160" cy="137160"/>
          </a:xfrm>
          <a:prstGeom prst="ellipse">
            <a:avLst/>
          </a:prstGeom>
          <a:solidFill>
            <a:srgbClr val="008787"/>
          </a:solidFill>
          <a:ln>
            <a:solidFill>
              <a:srgbClr val="008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4279392"/>
            <a:ext cx="3977639" cy="34747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300" b="0" i="0">
                <a:solidFill>
                  <a:srgbClr val="232D3C"/>
                </a:solidFill>
                <a:latin typeface="Aptos"/>
              </a:rPr>
              <a:t>Average lookup is O(1).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2651760"/>
            <a:ext cx="5029200" cy="2377440"/>
          </a:xfrm>
          <a:prstGeom prst="roundRect">
            <a:avLst/>
          </a:prstGeom>
          <a:solidFill>
            <a:srgbClr val="08265C"/>
          </a:solidFill>
          <a:ln>
            <a:solidFill>
              <a:srgbClr val="082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2880360"/>
            <a:ext cx="4572000" cy="320040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383280"/>
            <a:ext cx="4480560" cy="25603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"/>
              </a:rPr>
              <a:t>Q1  Student marks → Array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730752"/>
            <a:ext cx="4480560" cy="25603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"/>
              </a:rPr>
              <a:t>Q2  City routes → Graph + Dijkstra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078224"/>
            <a:ext cx="4480560" cy="25603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"/>
              </a:rPr>
              <a:t>Q3  Browser Back → Stack ADT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425696"/>
            <a:ext cx="4480560" cy="256032"/>
          </a:xfrm>
          <a:prstGeom prst="rect">
            <a:avLst/>
          </a:prstGeom>
          <a:noFill/>
        </p:spPr>
        <p:txBody>
          <a:bodyPr wrap="square" lIns="64008" rIns="64008" tIns="27432" bIns="27432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"/>
              </a:rPr>
              <a:t>Q4  ISBN lookup → Hash table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ATS Technical">
  <a:themeElements>
    <a:clrScheme name="SIMATS Technical">
      <a:dk1>
        <a:srgbClr val="111827"/>
      </a:dk1>
      <a:lt1>
        <a:srgbClr val="FFFFFF"/>
      </a:lt1>
      <a:dk2>
        <a:srgbClr val="002060"/>
      </a:dk2>
      <a:lt2>
        <a:srgbClr val="EAF1FB"/>
      </a:lt2>
      <a:accent1>
        <a:srgbClr val="1F5FA8"/>
      </a:accent1>
      <a:accent2>
        <a:srgbClr val="F26522"/>
      </a:accent2>
      <a:accent3>
        <a:srgbClr val="6DB33F"/>
      </a:accent3>
      <a:accent4>
        <a:srgbClr val="9DB4D6"/>
      </a:accent4>
      <a:accent5>
        <a:srgbClr val="0B1F4B"/>
      </a:accent5>
      <a:accent6>
        <a:srgbClr val="6B7280"/>
      </a:accent6>
      <a:hlink>
        <a:srgbClr val="1F5FA8"/>
      </a:hlink>
      <a:folHlink>
        <a:srgbClr val="6B7280"/>
      </a:folHlink>
    </a:clrScheme>
    <a:fontScheme name="SIMATS Technical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ATS Technical">
  <a:themeElements>
    <a:clrScheme name="SIMATS Technical">
      <a:dk1>
        <a:srgbClr val="111827"/>
      </a:dk1>
      <a:lt1>
        <a:srgbClr val="FFFFFF"/>
      </a:lt1>
      <a:dk2>
        <a:srgbClr val="002060"/>
      </a:dk2>
      <a:lt2>
        <a:srgbClr val="EAF1FB"/>
      </a:lt2>
      <a:accent1>
        <a:srgbClr val="1F5FA8"/>
      </a:accent1>
      <a:accent2>
        <a:srgbClr val="F26522"/>
      </a:accent2>
      <a:accent3>
        <a:srgbClr val="6DB33F"/>
      </a:accent3>
      <a:accent4>
        <a:srgbClr val="9DB4D6"/>
      </a:accent4>
      <a:accent5>
        <a:srgbClr val="0B1F4B"/>
      </a:accent5>
      <a:accent6>
        <a:srgbClr val="6B7280"/>
      </a:accent6>
      <a:hlink>
        <a:srgbClr val="1F5FA8"/>
      </a:hlink>
      <a:folHlink>
        <a:srgbClr val="6B7280"/>
      </a:folHlink>
    </a:clrScheme>
    <a:fontScheme name="SIMATS Technical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2024</Words>
  <Application>Microsoft Office PowerPoint</Application>
  <PresentationFormat>Widescreen</PresentationFormat>
  <Paragraphs>337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Courier New</vt:lpstr>
      <vt:lpstr>Times New Roman</vt:lpstr>
      <vt:lpstr>SIMATS Technical</vt:lpstr>
      <vt:lpstr>CSA0308- DATA STRUCTURES Assessment Tool 2 - Technical Presentation</vt:lpstr>
      <vt:lpstr>PowerPoint Presentation</vt:lpstr>
      <vt:lpstr>PowerPoint Presentation</vt:lpstr>
      <vt:lpstr>Primitive vs Non-Primitive</vt:lpstr>
      <vt:lpstr>Why an Array Fits</vt:lpstr>
      <vt:lpstr>Implementation &amp; Justification</vt:lpstr>
      <vt:lpstr>Graph for City Navigation</vt:lpstr>
      <vt:lpstr>Representation &amp; Algorithm</vt:lpstr>
      <vt:lpstr>Dijkstra in Action</vt:lpstr>
      <vt:lpstr>Stack ADT for Browser History</vt:lpstr>
      <vt:lpstr>How the Back Button Works</vt:lpstr>
      <vt:lpstr>Performance Efficiency</vt:lpstr>
      <vt:lpstr>Searching 50,000 ISBN Records</vt:lpstr>
      <vt:lpstr>Time Complexity Comparison</vt:lpstr>
      <vt:lpstr>Hash Design &amp; Conclusion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Presentation - Data Structures (CSA03)</dc:title>
  <dc:subject>PptxGenJS Presentation</dc:subject>
  <dc:creator>SIMATS Engineering</dc:creator>
  <cp:lastModifiedBy>Bharath Reddy Chagani</cp:lastModifiedBy>
  <cp:revision>2</cp:revision>
  <dcterms:created xsi:type="dcterms:W3CDTF">2026-10-09T03:10:00Z</dcterms:created>
  <dcterms:modified xsi:type="dcterms:W3CDTF">2026-10-10T10:50:48Z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939E81421BE64F35A03D495DC42A8052_13</vt:lpwstr>
  </property>
</Properties>
</file>