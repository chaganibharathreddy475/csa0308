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Reddy Chagani" userId="1329c0a628bfa149" providerId="LiveId" clId="{1F21D2FA-3E02-43BE-96C7-8658C0CFC1C8}"/>
    <pc:docChg chg="custSel modSld">
      <pc:chgData name="Bharath Reddy Chagani" userId="1329c0a628bfa149" providerId="LiveId" clId="{1F21D2FA-3E02-43BE-96C7-8658C0CFC1C8}" dt="2026-10-10T10:50:42.848" v="51" actId="14100"/>
      <pc:docMkLst>
        <pc:docMk/>
      </pc:docMkLst>
      <pc:sldChg chg="modSp mod">
        <pc:chgData name="Bharath Reddy Chagani" userId="1329c0a628bfa149" providerId="LiveId" clId="{1F21D2FA-3E02-43BE-96C7-8658C0CFC1C8}" dt="2026-10-10T10:49:05.060" v="42" actId="1076"/>
        <pc:sldMkLst>
          <pc:docMk/>
          <pc:sldMk cId="0" sldId="256"/>
        </pc:sldMkLst>
        <pc:spChg chg="mod">
          <ac:chgData name="Bharath Reddy Chagani" userId="1329c0a628bfa149" providerId="LiveId" clId="{1F21D2FA-3E02-43BE-96C7-8658C0CFC1C8}" dt="2026-10-10T10:49:05.060" v="42" actId="1076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Bharath Reddy Chagani" userId="1329c0a628bfa149" providerId="LiveId" clId="{1F21D2FA-3E02-43BE-96C7-8658C0CFC1C8}" dt="2026-10-10T10:50:42.848" v="51" actId="14100"/>
        <pc:sldMkLst>
          <pc:docMk/>
          <pc:sldMk cId="0" sldId="270"/>
        </pc:sldMkLst>
        <pc:picChg chg="del">
          <ac:chgData name="Bharath Reddy Chagani" userId="1329c0a628bfa149" providerId="LiveId" clId="{1F21D2FA-3E02-43BE-96C7-8658C0CFC1C8}" dt="2026-10-10T10:50:06.484" v="43" actId="478"/>
          <ac:picMkLst>
            <pc:docMk/>
            <pc:sldMk cId="0" sldId="270"/>
            <ac:picMk id="3" creationId="{00000000-0000-0000-0000-000000000000}"/>
          </ac:picMkLst>
        </pc:picChg>
        <pc:picChg chg="add mod">
          <ac:chgData name="Bharath Reddy Chagani" userId="1329c0a628bfa149" providerId="LiveId" clId="{1F21D2FA-3E02-43BE-96C7-8658C0CFC1C8}" dt="2026-10-10T10:50:42.848" v="51" actId="14100"/>
          <ac:picMkLst>
            <pc:docMk/>
            <pc:sldMk cId="0" sldId="270"/>
            <ac:picMk id="5" creationId="{56507612-73AC-8867-A1DB-986F96365821}"/>
          </ac:picMkLst>
        </pc:picChg>
      </pc:sldChg>
      <pc:sldChg chg="addSp delSp modSp mod">
        <pc:chgData name="Bharath Reddy Chagani" userId="1329c0a628bfa149" providerId="LiveId" clId="{1F21D2FA-3E02-43BE-96C7-8658C0CFC1C8}" dt="2026-10-10T10:48:16.884" v="7" actId="14100"/>
        <pc:sldMkLst>
          <pc:docMk/>
          <pc:sldMk cId="0" sldId="271"/>
        </pc:sldMkLst>
        <pc:picChg chg="del">
          <ac:chgData name="Bharath Reddy Chagani" userId="1329c0a628bfa149" providerId="LiveId" clId="{1F21D2FA-3E02-43BE-96C7-8658C0CFC1C8}" dt="2026-10-10T10:47:50.233" v="1" actId="478"/>
          <ac:picMkLst>
            <pc:docMk/>
            <pc:sldMk cId="0" sldId="271"/>
            <ac:picMk id="3" creationId="{00000000-0000-0000-0000-000000000000}"/>
          </ac:picMkLst>
        </pc:picChg>
        <pc:picChg chg="add mod">
          <ac:chgData name="Bharath Reddy Chagani" userId="1329c0a628bfa149" providerId="LiveId" clId="{1F21D2FA-3E02-43BE-96C7-8658C0CFC1C8}" dt="2026-10-10T10:48:16.884" v="7" actId="14100"/>
          <ac:picMkLst>
            <pc:docMk/>
            <pc:sldMk cId="0" sldId="271"/>
            <ac:picMk id="4" creationId="{5F38BDA7-8472-01DD-B6CF-4031B4B2FA86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2060"/>
                </a:solidFill>
                <a:latin typeface="Times New Roman" panose="020206030504050203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2060"/>
                </a:solidFill>
                <a:latin typeface="Times New Roman" panose="02020603050405020304"/>
              </a:rPr>
              <a:t>Steps to reach student #750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spPr>
            <a:solidFill>
              <a:srgbClr val="4E9A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54-406C-8845-01E618D70C6C}"/>
              </c:ext>
            </c:extLst>
          </c:dPt>
          <c:dPt>
            <c:idx val="1"/>
            <c:invertIfNegative val="0"/>
            <c:bubble3D val="0"/>
            <c:spPr>
              <a:solidFill>
                <a:srgbClr val="F265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54-406C-8845-01E618D70C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600" b="1" i="0" u="none" strike="noStrike" kern="1200" baseline="0">
                    <a:solidFill>
                      <a:srgbClr val="111827"/>
                    </a:solidFill>
                    <a:latin typeface="Times New Roman" panose="020206030504050203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Array</c:v>
                </c:pt>
                <c:pt idx="1">
                  <c:v>Linked list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54-406C-8845-01E618D70C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500" b="0" i="0" u="none" strike="noStrike" kern="1200" baseline="0">
                <a:solidFill>
                  <a:srgbClr val="111827"/>
                </a:solidFill>
                <a:latin typeface="Times New Roman" panose="020206030504050203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"/>
        </c:scaling>
        <c:delete val="0"/>
        <c:axPos val="l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6B7280"/>
                </a:solidFill>
                <a:latin typeface="Times New Roman" panose="020206030504050203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9826ec4-199a-40b7-b801-63aa80ff8446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rgbClr val="002060"/>
                </a:solidFill>
                <a:latin typeface="Times New Roman" panose="02020603050405020304"/>
                <a:ea typeface="+mn-ea"/>
                <a:cs typeface="+mn-cs"/>
              </a:defRPr>
            </a:pPr>
            <a:r>
              <a:rPr sz="1600" b="0" i="0" u="none" strike="noStrike">
                <a:solidFill>
                  <a:srgbClr val="002060"/>
                </a:solidFill>
                <a:latin typeface="Times New Roman" panose="02020603050405020304"/>
              </a:rPr>
              <a:t>Comparisons per search (log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F2652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F1-4C3A-B231-9209174B65C1}"/>
              </c:ext>
            </c:extLst>
          </c:dPt>
          <c:dPt>
            <c:idx val="1"/>
            <c:invertIfNegative val="0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F1-4C3A-B231-9209174B65C1}"/>
              </c:ext>
            </c:extLst>
          </c:dPt>
          <c:dPt>
            <c:idx val="2"/>
            <c:invertIfNegative val="0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F1-4C3A-B231-9209174B65C1}"/>
              </c:ext>
            </c:extLst>
          </c:dPt>
          <c:dPt>
            <c:idx val="3"/>
            <c:invertIfNegative val="0"/>
            <c:bubble3D val="0"/>
            <c:spPr>
              <a:solidFill>
                <a:srgbClr val="4E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F1-4C3A-B231-9209174B65C1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rgbClr val="111827"/>
                    </a:solidFill>
                    <a:latin typeface="Times New Roman" panose="020206030504050203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Binary</c:v>
                </c:pt>
                <c:pt idx="2">
                  <c:v>BST</c:v>
                </c:pt>
                <c:pt idx="3">
                  <c:v>Hash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16</c:v>
                </c:pt>
                <c:pt idx="2">
                  <c:v>16</c:v>
                </c:pt>
                <c:pt idx="3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F1-4C3A-B231-9209174B6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11827"/>
                </a:solidFill>
                <a:latin typeface="Times New Roman" panose="020206030504050203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"/>
          <c:min val="1"/>
        </c:scaling>
        <c:delete val="0"/>
        <c:axPos val="l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280"/>
                </a:solidFill>
                <a:latin typeface="Times New Roman" panose="020206030504050203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bcbeb9b-161a-4e52-bb28-98b8f95bd710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course. Say that the presentation answers four questions, each with a different data structure: Array, Graph, Stack and Hash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1000 students' marks. A single int holds one mark, so we need a non-primitive structure to hold many marks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table. Array access is O(1) because the address is computed from the index. A linked list must walk node by node, so student #750 takes 750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short code. Direct indexing gives O(1) access and update; one loop gives the average in O(n). The only weakness, inserting in the middle, is rare for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Cities are vertices, roads are weighted edges. Roads form cycles and many-to-many links, which arrays, lists and trees cannot represent.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 maps are sparse, so an adjacency list uses O(V+E) memory instead of O(V squared). Dijkstra with a min-heap finds shortest paths in O((V+E) log 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distances from A: C=2, B=3 (via C), D=8 (via B), E=10 (via D). The direct-looking C to E road would cost 12, so the longer-looking detour is actually shorter.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ADT defines behaviour, not implementation. The stack ADT gives push, pop, peek and isEmpty, all O(1). The latest visited page sits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A, B, C: three pushes. First Back pops C and shows B. Second Back pops B and shows A. Each step touches only the top, so it is O(1). Popped pages go to a second stack for the Forward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stack with an array that inserts at the front and with a queue. The stack gives O(1) visit and back, and its LIFO order matches the Back button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ISBN is a unique key and we only need exact-match lookup. Compare four candidates; the hash table jumps straight to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search may check all 50,000 records. Binary search and a balanced BST need about log2(50,000) which is 16 comparisons. A hash table needs about 1 to 2. The hash worst case O(n) needs every key to collide.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ISBN goes through the hash function to a bucket index; collisions are handled by chaining. With m=65,537 and 50,000 records the load factor is about 0.76, so a search takes about 1.4 comparisons. Then summarise all four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AV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97280" y="2103120"/>
            <a:ext cx="9966960" cy="16002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658368" cy="781812"/>
          </a:xfrm>
          <a:prstGeom prst="rect">
            <a:avLst/>
          </a:prstGeom>
        </p:spPr>
      </p:pic>
      <p:pic>
        <p:nvPicPr>
          <p:cNvPr id="3" name="Image 1" descr="/home/claude/assets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228600"/>
            <a:ext cx="877824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CSA03 · Data Structures · Technical Presentation</a:t>
            </a: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2808" y="41148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pic>
        <p:nvPicPr>
          <p:cNvPr id="3" name="Image 0" descr="/home/claude/assets/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530352"/>
            <a:ext cx="7863840" cy="1206094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97280" y="2240280"/>
            <a:ext cx="99669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>
                <a:solidFill>
                  <a:srgbClr val="002060"/>
                </a:solidFill>
                <a:sym typeface="+mn-ea"/>
              </a:rPr>
              <a:t>CSA0308- DATA STRUCTURES</a:t>
            </a:r>
            <a:br>
              <a:rPr>
                <a:solidFill>
                  <a:srgbClr val="002060"/>
                </a:solidFill>
                <a:sym typeface="+mn-ea"/>
              </a:rPr>
            </a:br>
            <a:r>
              <a:rPr>
                <a:solidFill>
                  <a:srgbClr val="002060"/>
                </a:solidFill>
                <a:sym typeface="+mn-ea"/>
              </a:rPr>
              <a:t>Assessment Tool 2 - Technical Presentation</a:t>
            </a:r>
            <a:endParaRPr lang="en-US" sz="4000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097280" y="3794760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744345" y="4857750"/>
            <a:ext cx="2153285" cy="149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Guided by :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Dr.Rajaram</a:t>
            </a:r>
          </a:p>
          <a:p>
            <a:pPr marL="0" indent="0" algn="ctr">
              <a:buNone/>
            </a:pPr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45928" y="5243195"/>
            <a:ext cx="4558144" cy="721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Presented by:</a:t>
            </a:r>
          </a:p>
          <a:p>
            <a:pPr marL="0" indent="0" algn="l">
              <a:buNone/>
            </a:pPr>
            <a:r>
              <a:rPr lang="en-US" sz="1800" b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CH.BHARTH KUMAR REDDY(192411185)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38BDA7-8472-01DD-B6CF-4031B4B2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09" y="0"/>
            <a:ext cx="7162800" cy="6608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07612-73AC-8867-A1DB-986F96365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618" y="1011382"/>
            <a:ext cx="8780734" cy="52924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Primitive vs Non-Primitive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1 · Student marks management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problem: </a:t>
            </a:r>
            <a:r>
              <a:rPr lang="en-US" sz="17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store the marks of 1000 students and support fast storing, reading, updating and averaging.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5176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Primitive data structures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Hold a single value of fixed size.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1168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0312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float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4612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3756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char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0560" y="35661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356616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boolean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206240"/>
            <a:ext cx="4983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mark = one int / float value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1000 separate variables are unmanageable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99632" y="251460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28232" y="265176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Non-primitive data structures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28232" y="310896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Built from primitives to group many values.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28232" y="35661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19672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Array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028432" y="35661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19872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Linked list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28632" y="35661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20072" y="35661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Stack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28232" y="4023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19672" y="4023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Queue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28432" y="4023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19872" y="4023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Tree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628632" y="4023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720072" y="40233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Graph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28232" y="4572000"/>
            <a:ext cx="49834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Linear: array, linked list, stack, queue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Non-linear: tree, graph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576072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Decision: keep the 1000 primitive marks together in a non-primitive structure: an Array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Why an Array Fits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1 · Efficiency of the data structure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463040"/>
          <a:ext cx="585216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Operation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Array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Linked list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Access mark by index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Update a mark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Search by value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Traverse (average)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Memory, 1000 marks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4 KB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16 KB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663440"/>
            <a:ext cx="5852160" cy="1417320"/>
          </a:xfrm>
          <a:prstGeom prst="roundRect">
            <a:avLst>
              <a:gd name="adj" fmla="val 6452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663440"/>
            <a:ext cx="53949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Contiguous memory: </a:t>
            </a: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address of marks[i] is base + i × 4 bytes, so any student is reached in one step, with no scanning.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Memory: int = 4 B; linked-list node = 4 B data + 8 B pointer, padded to 16 B.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675120" y="1417320"/>
          <a:ext cx="49834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Implementation &amp; Justification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1 · Array of 1000 marks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0" cy="4114800"/>
          </a:xfrm>
          <a:prstGeom prst="roundRect">
            <a:avLst>
              <a:gd name="adj" fmla="val 2222"/>
            </a:avLst>
          </a:prstGeom>
          <a:solidFill>
            <a:srgbClr val="0B1F4B"/>
          </a:solidFill>
          <a:ln w="6350">
            <a:solidFill>
              <a:srgbClr val="0B1F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marks[1000];      // 1000 contiguous ints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marks[749] = 88;      // update  -&gt; O(1)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 = marks[749];   // access  -&gt; O(1)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sum = 0;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(int i = 0; i &lt; 1000; i++)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sum += marks[i];  // traverse -&gt; O(n)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float avg = sum / 1000.0;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Why the array is the right choice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0" y="2057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20116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Fixed, known size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3591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Exactly 1000 students, so no resizing is needed.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0" y="29718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260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Index = position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2735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Roll number maps straight to marks[i]: O(1).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0" y="38862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3886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38404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Compact and fast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41879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Contiguous memory, no pointer overhead.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4800600"/>
            <a:ext cx="457200" cy="457200"/>
          </a:xfrm>
          <a:prstGeom prst="ellipse">
            <a:avLst/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0" y="4800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47548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Known trade-off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510235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Insert / delete in the middle is O(n), which is rare for marks.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576072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Time: access O(1) · traverse O(n)          Space: O(n)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Graph for City Navigation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2 · Non-linear data structure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0" cy="1188720"/>
          </a:xfrm>
          <a:prstGeom prst="roundRect">
            <a:avLst>
              <a:gd name="adj" fmla="val 7692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need: </a:t>
            </a:r>
            <a:r>
              <a:rPr lang="en-US" sz="17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store city connections and find the shortest route between any two locations.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9260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Cities are vertices, roads are weighted edges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29184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Weight = distance (km) or travel time.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9776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Many-to-many links with cycles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34340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city connects to several others, and routes loop back.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50292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Linear structures and trees fall short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539496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Arrays, lists and stacks hold sequences; trees cannot contain cycles.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Example road network (distances in km)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 flipV="1">
            <a:off x="7269480" y="2606040"/>
            <a:ext cx="1554480" cy="13716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69480" y="3977640"/>
            <a:ext cx="1554480" cy="13716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23960" y="2606040"/>
            <a:ext cx="0" cy="27432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23960" y="2606040"/>
            <a:ext cx="2103120" cy="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8823960" y="2606040"/>
            <a:ext cx="2103120" cy="27432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23960" y="5349240"/>
            <a:ext cx="2103120" cy="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927080" y="2606040"/>
            <a:ext cx="0" cy="27432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99832" y="31455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9832" y="31455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799832" y="45171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99832" y="45171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57707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7707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628632" y="24597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628632" y="24597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62863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2863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628632" y="52029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28632" y="52029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068019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68019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949440" y="36576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49440" y="3657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8503920" y="22860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50392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8503920" y="50292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503920" y="5029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10607040" y="22860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60704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10607040" y="50292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607040" y="5029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</a:t>
            </a:r>
            <a:endParaRPr lang="en-US" sz="2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Representation &amp; Algorithm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2 · Adjacency list + Dijkstra's algorithm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463040"/>
          <a:ext cx="914400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Criterion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Adjacency matrix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Adjacency list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Space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O(V²)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O(V + E)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Check edge u–v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O(deg u)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List neighbours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O(V)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O(deg u)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Best for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Dense graphs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Sparse (roads)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480560"/>
            <a:ext cx="6035040" cy="1325880"/>
          </a:xfrm>
          <a:prstGeom prst="roundRect">
            <a:avLst>
              <a:gd name="adj" fmla="val 6897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777240" y="4480560"/>
            <a:ext cx="55778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Road maps are sparse: </a:t>
            </a:r>
            <a:r>
              <a:rPr lang="en-US" sz="15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city links to only a few others, so the adjacency list saves memory and scans neighbours faster.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6995160" y="14630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Dijkstra's shortest-path algorithm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995160" y="201168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9516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189738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Set distance 0 for the source and ∞ for every other city.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995160" y="278892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95160" y="2788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267462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Pick the unvisited city with the smallest distance (min-heap).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995160" y="356616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95160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345186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Relax its roads: update a neighbour if a shorter path is found.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995160" y="4343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9516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422910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Repeat until the destination is visited.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995160" y="5257800"/>
            <a:ext cx="4645152" cy="54864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086600" y="5257800"/>
            <a:ext cx="44622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Time O((V + E) log V) with a min-heap · Space O(V)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Dijkstra in Action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2 · Shortest route from A to 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Shortest path A → E highlighted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 flipV="1">
            <a:off x="1143000" y="2606040"/>
            <a:ext cx="1554480" cy="13716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3977640"/>
            <a:ext cx="1554480" cy="1371600"/>
          </a:xfrm>
          <a:prstGeom prst="line">
            <a:avLst/>
          </a:prstGeom>
          <a:noFill/>
          <a:ln w="63500">
            <a:solidFill>
              <a:srgbClr val="F265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97480" y="2606040"/>
            <a:ext cx="0" cy="2743200"/>
          </a:xfrm>
          <a:prstGeom prst="line">
            <a:avLst/>
          </a:prstGeom>
          <a:noFill/>
          <a:ln w="63500">
            <a:solidFill>
              <a:srgbClr val="F265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97480" y="2606040"/>
            <a:ext cx="2103120" cy="0"/>
          </a:xfrm>
          <a:prstGeom prst="line">
            <a:avLst/>
          </a:prstGeom>
          <a:noFill/>
          <a:ln w="63500">
            <a:solidFill>
              <a:srgbClr val="F265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2697480" y="2606040"/>
            <a:ext cx="2103120" cy="274320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5349240"/>
            <a:ext cx="2103120" cy="0"/>
          </a:xfrm>
          <a:prstGeom prst="line">
            <a:avLst/>
          </a:prstGeom>
          <a:noFill/>
          <a:ln w="31750">
            <a:solidFill>
              <a:srgbClr val="9DB4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606040"/>
            <a:ext cx="0" cy="2743200"/>
          </a:xfrm>
          <a:prstGeom prst="line">
            <a:avLst/>
          </a:prstGeom>
          <a:noFill/>
          <a:ln w="63500">
            <a:solidFill>
              <a:srgbClr val="F265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73352" y="31455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73352" y="31455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673352" y="45171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73352" y="45171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45059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5059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502152" y="24597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02152" y="24597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50215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0215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502152" y="52029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02152" y="52029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53712" y="3831336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53712" y="3831336"/>
            <a:ext cx="493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4E9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3657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2377440" y="22860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37744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2377440" y="50292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377440" y="5029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4480560" y="2286000"/>
            <a:ext cx="640080" cy="640080"/>
          </a:xfrm>
          <a:prstGeom prst="ellipse">
            <a:avLst/>
          </a:prstGeom>
          <a:solidFill>
            <a:srgbClr val="0020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48056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4480560" y="5029200"/>
            <a:ext cx="640080" cy="640080"/>
          </a:xfrm>
          <a:prstGeom prst="ellipse">
            <a:avLst/>
          </a:prstGeom>
          <a:solidFill>
            <a:srgbClr val="F265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80560" y="5029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126480" y="1463040"/>
          <a:ext cx="9144000" cy="2514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City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Distance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Shortest path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 km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→ C → B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 km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→ C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8 km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→ C → B → D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 km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 → C → B → D → 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6126480" y="420624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355080" y="4297680"/>
            <a:ext cx="502920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Direct C → E costs 2 + 10 = 12 km; the detour costs 10 km.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Greedy choice is safe: road lengths are never negative.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Result found in O((V + E) log V).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Stack ADT for Browser History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3 · Last In, First Out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need: </a:t>
            </a:r>
            <a:r>
              <a:rPr lang="en-US" sz="17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Back button must return to the most recently visited page first.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2606040"/>
          <a:ext cx="9144000" cy="2514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Operation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Purpose in a browser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Time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push(page)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Add a visited page on top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pop()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Back: remove current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peek()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Read the current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isEmpty()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No page left to go back to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4924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4" name="Text 5"/>
          <p:cNvSpPr txBox="1"/>
          <p:nvPr/>
        </p:nvSpPr>
        <p:spPr>
          <a:xfrm>
            <a:off x="777240" y="5349240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 ADT fixes the behaviour (push, pop, peek); it can be built on an array or a linked list.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26060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Browser history stack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772400" y="31089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0020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0" y="310896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C · current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772400" y="38862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72400" y="388620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B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7772400" y="466344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9DB4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0" y="4663440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A · first visited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812280" y="3108960"/>
            <a:ext cx="868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265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TOP ►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6949440" y="5486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push / pop happen only at the 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How the Back Button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3 · Push on visit, pop on Back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  Visit pages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97280" y="39319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3931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3291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97280" y="3291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B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7280" y="2651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265176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C · shown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663440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push(A), push(B), push(C): the current page C is on top.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931920" y="3063240"/>
            <a:ext cx="411480" cy="365760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146304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14630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  Click Back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983480" y="39319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83480" y="3931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83480" y="3291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83480" y="3291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B · shown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983480" y="2651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DB4D6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4983480" y="265176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 (popped)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434840" y="4663440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pop() removes C and page B is shown. One step: O(1).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818120" y="3063240"/>
            <a:ext cx="411480" cy="365760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21040" y="146304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0" y="14630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  Click Back again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8869680" y="39319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69680" y="3931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Page A · shown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869680" y="3291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DB4D6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8869680" y="32918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 (popped)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869680" y="2651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DB4D6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8869680" y="265176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 (popped)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663440"/>
            <a:ext cx="3291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pop() removes B and page A is shown. Still O(1).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1520" y="576072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Forward button: popped pages go onto a second stack, so Forward is also O(1)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Performance Efficiency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3 · Why a stack beats the alternatives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463040"/>
          <a:ext cx="914400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Operation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Stack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Array (front)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Queue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Visit new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Go back one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Wrong page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Order fits Back button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LIFO ✓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Possible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FIFO ✗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Memory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480560"/>
            <a:ext cx="6766560" cy="1463040"/>
          </a:xfrm>
          <a:prstGeom prst="roundRect">
            <a:avLst>
              <a:gd name="adj" fmla="val 6250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480560"/>
            <a:ext cx="63093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Only the top element is touched: no searching, no shifting.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Back stays instant even after thousands of pages.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680960" y="1463040"/>
            <a:ext cx="3959352" cy="210312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164592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O(1)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788920"/>
            <a:ext cx="3593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per visit, Back and peek</a:t>
            </a:r>
            <a:endParaRPr lang="en-US" sz="1600" dirty="0"/>
          </a:p>
        </p:txBody>
      </p:sp>
      <p:sp>
        <p:nvSpPr>
          <p:cNvPr id="4" name="Shape 7"/>
          <p:cNvSpPr/>
          <p:nvPr/>
        </p:nvSpPr>
        <p:spPr>
          <a:xfrm>
            <a:off x="7680960" y="3840480"/>
            <a:ext cx="3959352" cy="210312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0" y="402336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O(n)</a:t>
            </a:r>
            <a:endParaRPr lang="en-US" sz="60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5166360"/>
            <a:ext cx="359359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space: one entry per visited page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Searching 50,000 ISBN Records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4 · Candidate data structures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need: </a:t>
            </a:r>
            <a:r>
              <a:rPr lang="en-US" sz="17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find a book by its ISBN among 50,000 records quickly, for every search.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Candidate data structures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Unsorted list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206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Check records one by one.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1520" y="4937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37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O(n)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62249" y="301752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45129" y="3200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45129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545129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Sorted array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545129" y="4206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Binary search halves the range; inserts cost O(n).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3545129" y="4937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36569" y="4937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O(log n)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175858" y="301752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8738" y="3200400"/>
            <a:ext cx="457200" cy="457200"/>
          </a:xfrm>
          <a:prstGeom prst="ellipse">
            <a:avLst/>
          </a:prstGeom>
          <a:solidFill>
            <a:srgbClr val="1F5FA8"/>
          </a:solidFill>
          <a:ln w="6350">
            <a:solidFill>
              <a:srgbClr val="1F5FA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58738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358738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 BST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58738" y="4206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Go left or right by comparing keys.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6358738" y="4937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50178" y="4937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O(log n)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989466" y="3017520"/>
            <a:ext cx="2651760" cy="2514600"/>
          </a:xfrm>
          <a:prstGeom prst="roundRect">
            <a:avLst>
              <a:gd name="adj" fmla="val 3636"/>
            </a:avLst>
          </a:prstGeom>
          <a:solidFill>
            <a:srgbClr val="002060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72346" y="3200400"/>
            <a:ext cx="457200" cy="457200"/>
          </a:xfrm>
          <a:prstGeom prst="ellipse">
            <a:avLst/>
          </a:prstGeom>
          <a:solidFill>
            <a:srgbClr val="F26522"/>
          </a:solidFill>
          <a:ln w="6350">
            <a:solidFill>
              <a:srgbClr val="F2652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72346" y="3200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172346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 table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9172346" y="4206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Compute the bucket straight from the key.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9172346" y="493776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63786" y="4937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O(1) average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57150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ISBN is a unique key and only exact-match lookup is needed → Hash table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Time Complexity Comparison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4 · Searching n = 50,000 records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463040"/>
          <a:ext cx="9144000" cy="2971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Structure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Average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Worst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 = 50,000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Linear search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652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≤ 50,000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Binary search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O(log 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O(log 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16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Balanced BST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O(log 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O(log 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16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Hash table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O(1)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O(n)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E9A2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≈ 1.4</a:t>
                      </a:r>
                      <a:endParaRPr lang="en-US" sz="1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663440"/>
            <a:ext cx="6583680" cy="1280160"/>
          </a:xfrm>
          <a:prstGeom prst="roundRect">
            <a:avLst>
              <a:gd name="adj" fmla="val 7143"/>
            </a:avLst>
          </a:prstGeom>
          <a:solidFill>
            <a:srgbClr val="EAF1FB"/>
          </a:solidFill>
          <a:ln w="6350">
            <a:solidFill>
              <a:srgbClr val="EAF1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663440"/>
            <a:ext cx="6126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 worst case O(n) </a:t>
            </a:r>
            <a:r>
              <a:rPr lang="en-US" sz="155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happens only if every key collides. A good hash function and a load factor near 0.76 keep chains short.</a:t>
            </a:r>
            <a:endParaRPr lang="en-US" sz="15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7406640" y="1417320"/>
          <a:ext cx="42976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 Design &amp;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868680"/>
            <a:ext cx="9445752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Question 4 · How the hash table works, and the summary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ISBN-13 key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17520" y="1755648"/>
            <a:ext cx="365760" cy="329184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463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hash(key) = key mod 65,537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0" y="1755648"/>
            <a:ext cx="365760" cy="329184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463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Bucket index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869680" y="1755648"/>
            <a:ext cx="365760" cy="329184"/>
          </a:xfrm>
          <a:prstGeom prst="rightArrow">
            <a:avLst/>
          </a:prstGeom>
          <a:solidFill>
            <a:srgbClr val="9DB4D6"/>
          </a:solidFill>
          <a:ln w="6350">
            <a:solidFill>
              <a:srgbClr val="9DB4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2688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18320" y="14630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Chain of records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2697480"/>
            <a:ext cx="54864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C9D8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Design choices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383280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Table size m = 65,537 (prime): load factor α = 50,000 / 65,537 ≈ 0.76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Collisions: separate chaining (a short list per bucket)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Expected search ≈ 1 + α/2 ≈ 1.4 comparisons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Insert and delete are also O(1) on average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09360" y="2697480"/>
            <a:ext cx="5330952" cy="3429000"/>
          </a:xfrm>
          <a:prstGeom prst="roundRect">
            <a:avLst>
              <a:gd name="adj" fmla="val 2667"/>
            </a:avLst>
          </a:prstGeom>
          <a:solidFill>
            <a:srgbClr val="002060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2834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33375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B2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Q1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333756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Marks of 1000 students →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Array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388620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B2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Q2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38862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City routes →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Graph + Dijkstra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44348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B2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Q3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443484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Browser Back →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Stack (LIFO)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49834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B27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Q4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086600" y="498348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ISBN search →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Hash table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553212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Right structure for the right operations.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2024</Words>
  <Application>Microsoft Office PowerPoint</Application>
  <PresentationFormat>Widescreen</PresentationFormat>
  <Paragraphs>337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Times New Roman</vt:lpstr>
      <vt:lpstr>SIMATS Technical</vt:lpstr>
      <vt:lpstr>CSA0308- DATA STRUCTURES Assessment Tool 2 - Technical Presentation</vt:lpstr>
      <vt:lpstr>PowerPoint Presentation</vt:lpstr>
      <vt:lpstr>PowerPoint Presentation</vt:lpstr>
      <vt:lpstr>Primitive vs Non-Primitive</vt:lpstr>
      <vt:lpstr>Why an Array Fits</vt:lpstr>
      <vt:lpstr>Implementation &amp; Justification</vt:lpstr>
      <vt:lpstr>Graph for City Navigation</vt:lpstr>
      <vt:lpstr>Representation &amp; Algorithm</vt:lpstr>
      <vt:lpstr>Dijkstra in Action</vt:lpstr>
      <vt:lpstr>Stack ADT for Browser History</vt:lpstr>
      <vt:lpstr>How the Back Button Works</vt:lpstr>
      <vt:lpstr>Performance Efficiency</vt:lpstr>
      <vt:lpstr>Searching 50,000 ISBN Records</vt:lpstr>
      <vt:lpstr>Time Complexity Comparison</vt:lpstr>
      <vt:lpstr>Hash Design &amp; 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 - Data Structures (CSA03)</dc:title>
  <dc:subject>PptxGenJS Presentation</dc:subject>
  <dc:creator>SIMATS Engineering</dc:creator>
  <cp:lastModifiedBy>Bharath Reddy Chagani</cp:lastModifiedBy>
  <cp:revision>2</cp:revision>
  <dcterms:created xsi:type="dcterms:W3CDTF">2026-10-09T03:10:00Z</dcterms:created>
  <dcterms:modified xsi:type="dcterms:W3CDTF">2026-10-10T10:50:48Z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939E81421BE64F35A03D495DC42A8052_13</vt:lpwstr>
  </property>
</Properties>
</file>